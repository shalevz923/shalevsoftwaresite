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b30c11ed7c4850" /><Relationship Type="http://schemas.openxmlformats.org/officeDocument/2006/relationships/extended-properties" Target="/docProps/app.xml" Id="R643f18a49f924b72" /><Relationship Type="http://schemas.openxmlformats.org/officeDocument/2006/relationships/officeDocument" Target="/ppt/presentation.xml" Id="R20f3ea89bba842b2" /></Relationships>
</file>

<file path=ppt/presentation.xml><?xml version="1.0" encoding="utf-8"?>
<p:presentation xmlns:p="http://schemas.openxmlformats.org/presentationml/2006/main">
  <p:sldMasterIdLst>
    <p:sldMasterId xmlns:r="http://schemas.openxmlformats.org/officeDocument/2006/relationships" id="2147483648" r:id="R071bc8ac92974e10"/>
  </p:sldMasterIdLst>
  <p:notesMasterIdLst>
    <p:notesMasterId xmlns:r="http://schemas.openxmlformats.org/officeDocument/2006/relationships" r:id="Ra618610726824c5d"/>
  </p:notesMasterIdLst>
  <p:sldIdLst>
    <p:sldId xmlns:r="http://schemas.openxmlformats.org/officeDocument/2006/relationships" id="256" r:id="Racb98548c2054e99"/>
    <p:sldId xmlns:r="http://schemas.openxmlformats.org/officeDocument/2006/relationships" id="257" r:id="R325af14e837c4177"/>
    <p:sldId xmlns:r="http://schemas.openxmlformats.org/officeDocument/2006/relationships" id="258" r:id="Rc9fc4adea77d4860"/>
    <p:sldId xmlns:r="http://schemas.openxmlformats.org/officeDocument/2006/relationships" id="259" r:id="Ra3968885329448e5"/>
    <p:sldId xmlns:r="http://schemas.openxmlformats.org/officeDocument/2006/relationships" id="260" r:id="Rfd1dd1e074034b76"/>
    <p:sldId xmlns:r="http://schemas.openxmlformats.org/officeDocument/2006/relationships" id="261" r:id="R65e8dd2ffbe847ce"/>
    <p:sldId xmlns:r="http://schemas.openxmlformats.org/officeDocument/2006/relationships" id="262" r:id="R4be4c8d5db5f4ffd"/>
    <p:sldId xmlns:r="http://schemas.openxmlformats.org/officeDocument/2006/relationships" id="263" r:id="Rdb867be15d6b4b82"/>
    <p:sldId xmlns:r="http://schemas.openxmlformats.org/officeDocument/2006/relationships" id="264" r:id="Rfed61bf235ca4f19"/>
    <p:sldId xmlns:r="http://schemas.openxmlformats.org/officeDocument/2006/relationships" id="265" r:id="R1ad012233fa54e83"/>
    <p:sldId xmlns:r="http://schemas.openxmlformats.org/officeDocument/2006/relationships" id="266" r:id="R85b3e90673a540d9"/>
    <p:sldId xmlns:r="http://schemas.openxmlformats.org/officeDocument/2006/relationships" id="267" r:id="Rfe59050dd60542fd"/>
    <p:sldId xmlns:r="http://schemas.openxmlformats.org/officeDocument/2006/relationships" id="268" r:id="R0fb6d0a3707d4e0e"/>
    <p:sldId xmlns:r="http://schemas.openxmlformats.org/officeDocument/2006/relationships" id="269" r:id="R53ad8eb9d7c94c32"/>
    <p:sldId xmlns:r="http://schemas.openxmlformats.org/officeDocument/2006/relationships" id="270" r:id="Reb47c46024064ce4"/>
    <p:sldId xmlns:r="http://schemas.openxmlformats.org/officeDocument/2006/relationships" id="271" r:id="Rf1bba7bfd999438b"/>
    <p:sldId xmlns:r="http://schemas.openxmlformats.org/officeDocument/2006/relationships" id="272" r:id="Rc04b2dda332e471f"/>
    <p:sldId xmlns:r="http://schemas.openxmlformats.org/officeDocument/2006/relationships" id="273" r:id="Rc3734a76f72147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0b2a25ff9c432b" /><Relationship Type="http://schemas.openxmlformats.org/officeDocument/2006/relationships/slideMaster" Target="/ppt/slideMasters/slideMaster1.xml" Id="R071bc8ac92974e10" /><Relationship Type="http://schemas.openxmlformats.org/officeDocument/2006/relationships/notesMaster" Target="/ppt/notesMasters/notesMaster1.xml" Id="Ra618610726824c5d" /><Relationship Type="http://schemas.openxmlformats.org/officeDocument/2006/relationships/presProps" Target="/ppt/presProps.xml" Id="R7446780b2bba4483" /><Relationship Type="http://schemas.openxmlformats.org/officeDocument/2006/relationships/tableStyles" Target="/ppt/tableStyles.xml" Id="R1c8c13742df84ae1" /><Relationship Type="http://schemas.openxmlformats.org/officeDocument/2006/relationships/slide" Target="/ppt/slides/slide1.xml" Id="Racb98548c2054e99" /><Relationship Type="http://schemas.openxmlformats.org/officeDocument/2006/relationships/slide" Target="/ppt/slides/slide2.xml" Id="R325af14e837c4177" /><Relationship Type="http://schemas.openxmlformats.org/officeDocument/2006/relationships/slide" Target="/ppt/slides/slide3.xml" Id="Rc9fc4adea77d4860" /><Relationship Type="http://schemas.openxmlformats.org/officeDocument/2006/relationships/slide" Target="/ppt/slides/slide4.xml" Id="Ra3968885329448e5" /><Relationship Type="http://schemas.openxmlformats.org/officeDocument/2006/relationships/slide" Target="/ppt/slides/slide5.xml" Id="Rfd1dd1e074034b76" /><Relationship Type="http://schemas.openxmlformats.org/officeDocument/2006/relationships/slide" Target="/ppt/slides/slide6.xml" Id="R65e8dd2ffbe847ce" /><Relationship Type="http://schemas.openxmlformats.org/officeDocument/2006/relationships/slide" Target="/ppt/slides/slide7.xml" Id="R4be4c8d5db5f4ffd" /><Relationship Type="http://schemas.openxmlformats.org/officeDocument/2006/relationships/slide" Target="/ppt/slides/slide8.xml" Id="Rdb867be15d6b4b82" /><Relationship Type="http://schemas.openxmlformats.org/officeDocument/2006/relationships/slide" Target="/ppt/slides/slide9.xml" Id="Rfed61bf235ca4f19" /><Relationship Type="http://schemas.openxmlformats.org/officeDocument/2006/relationships/slide" Target="/ppt/slides/slide10.xml" Id="R1ad012233fa54e83" /><Relationship Type="http://schemas.openxmlformats.org/officeDocument/2006/relationships/slide" Target="/ppt/slides/slide11.xml" Id="R85b3e90673a540d9" /><Relationship Type="http://schemas.openxmlformats.org/officeDocument/2006/relationships/slide" Target="/ppt/slides/slide12.xml" Id="Rfe59050dd60542fd" /><Relationship Type="http://schemas.openxmlformats.org/officeDocument/2006/relationships/slide" Target="/ppt/slides/slide13.xml" Id="R0fb6d0a3707d4e0e" /><Relationship Type="http://schemas.openxmlformats.org/officeDocument/2006/relationships/slide" Target="/ppt/slides/slide14.xml" Id="R53ad8eb9d7c94c32" /><Relationship Type="http://schemas.openxmlformats.org/officeDocument/2006/relationships/slide" Target="/ppt/slides/slide15.xml" Id="Reb47c46024064ce4" /><Relationship Type="http://schemas.openxmlformats.org/officeDocument/2006/relationships/slide" Target="/ppt/slides/slide16.xml" Id="Rf1bba7bfd999438b" /><Relationship Type="http://schemas.openxmlformats.org/officeDocument/2006/relationships/slide" Target="/ppt/slides/slide17.xml" Id="Rc04b2dda332e471f" /><Relationship Type="http://schemas.openxmlformats.org/officeDocument/2006/relationships/slide" Target="/ppt/slides/slide18.xml" Id="Rc3734a76f72147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87e3b4768c48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b8dd23f1d24a68" /><Relationship Type="http://schemas.openxmlformats.org/officeDocument/2006/relationships/notesMaster" Target="/ppt/notesMasters/notesMaster1.xml" Id="Raf92e517a48644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f10c5b63eb48ff" /><Relationship Type="http://schemas.openxmlformats.org/officeDocument/2006/relationships/notesMaster" Target="/ppt/notesMasters/notesMaster1.xml" Id="R8c2d0024a43143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63e33489d441d2" /><Relationship Type="http://schemas.openxmlformats.org/officeDocument/2006/relationships/notesMaster" Target="/ppt/notesMasters/notesMaster1.xml" Id="Ree3cec206dce41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d6cec231f84d88" /><Relationship Type="http://schemas.openxmlformats.org/officeDocument/2006/relationships/notesMaster" Target="/ppt/notesMasters/notesMaster1.xml" Id="Rc1843d741e5c42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ba762e3c064c3b" /><Relationship Type="http://schemas.openxmlformats.org/officeDocument/2006/relationships/notesMaster" Target="/ppt/notesMasters/notesMaster1.xml" Id="R3cefc714875c46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cd45555f954ef6" /><Relationship Type="http://schemas.openxmlformats.org/officeDocument/2006/relationships/notesMaster" Target="/ppt/notesMasters/notesMaster1.xml" Id="R7d7c66043db047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2d337c33714e49" /><Relationship Type="http://schemas.openxmlformats.org/officeDocument/2006/relationships/notesMaster" Target="/ppt/notesMasters/notesMaster1.xml" Id="R76c07d3a224d42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0ee1e3ea9a409c" /><Relationship Type="http://schemas.openxmlformats.org/officeDocument/2006/relationships/notesMaster" Target="/ppt/notesMasters/notesMaster1.xml" Id="R503f5302cf5b44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3af31523d5494e" /><Relationship Type="http://schemas.openxmlformats.org/officeDocument/2006/relationships/notesMaster" Target="/ppt/notesMasters/notesMaster1.xml" Id="Rcf42cfec27284c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25ab36b6ca4ce4" /><Relationship Type="http://schemas.openxmlformats.org/officeDocument/2006/relationships/notesMaster" Target="/ppt/notesMasters/notesMaster1.xml" Id="Rb72a399ae3044f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ebf35b91f14b6b" /><Relationship Type="http://schemas.openxmlformats.org/officeDocument/2006/relationships/notesMaster" Target="/ppt/notesMasters/notesMaster1.xml" Id="Rcf3123cf86e945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802eed08d5420a" /><Relationship Type="http://schemas.openxmlformats.org/officeDocument/2006/relationships/notesMaster" Target="/ppt/notesMasters/notesMaster1.xml" Id="R4b800a3a1a2443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43489bf25948f0" /><Relationship Type="http://schemas.openxmlformats.org/officeDocument/2006/relationships/notesMaster" Target="/ppt/notesMasters/notesMaster1.xml" Id="Rfa93d7b0727e4d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a4b61f3a1d4aa6" /><Relationship Type="http://schemas.openxmlformats.org/officeDocument/2006/relationships/notesMaster" Target="/ppt/notesMasters/notesMaster1.xml" Id="R3e5d4e1e342e4a8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653cd07e474992" /><Relationship Type="http://schemas.openxmlformats.org/officeDocument/2006/relationships/notesMaster" Target="/ppt/notesMasters/notesMaster1.xml" Id="R83f15e5a204a43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b6642962e34348" /><Relationship Type="http://schemas.openxmlformats.org/officeDocument/2006/relationships/notesMaster" Target="/ppt/notesMasters/notesMaster1.xml" Id="R2cba88fb149a48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480de8df264469" /><Relationship Type="http://schemas.openxmlformats.org/officeDocument/2006/relationships/notesMaster" Target="/ppt/notesMasters/notesMaster1.xml" Id="Rf29d44dfb6dd4f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1d2a92304945dd" /><Relationship Type="http://schemas.openxmlformats.org/officeDocument/2006/relationships/notesMaster" Target="/ppt/notesMasters/notesMaster1.xml" Id="R6ad44ec012b44c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90 seconds. Explain the cause before describing the product. The old catalog looked dated, was poorly organized and was not maintained consistently. People had to ask for a link, ask how to navigate and ask who owned support. The replacement must solve both finding information and maintaining it. Describe this as the team’s reported experience, not a measured study.</a:t>
            </a:r>
          </a:p>
          <a:p xmlns:a="http://schemas.openxmlformats.org/drawingml/2006/main">
            <a:r>
              <a:t/>
            </a:r>
          </a:p>
          <a:p xmlns:a="http://schemas.openxmlformats.org/drawingml/2006/main">
            <a:r>
              <a:t>Evidence: User account of the old catalog.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The idea has two equal parts: a useful catalog for employees and a workable maintenance process for the people behind it. Developer Studio matters because maintainers should not have to navigate folders and hand-edit catalog records for routine changes. The source remains structured and reviewable underneath the interface.</a:t>
            </a:r>
          </a:p>
          <a:p xmlns:a="http://schemas.openxmlformats.org/drawingml/2006/main">
            <a:r>
              <a:t/>
            </a:r>
          </a:p>
          <a:p xmlns:a="http://schemas.openxmlformats.org/drawingml/2006/main">
            <a:r>
              <a:t>Evidence: README.md; docs/DEVELOPER_STUDIO.md; 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1–5, allow 1 minute. These answer the first questions an employee has: what can I use, does it fit my platform, which release should I choose, and who supports it? Recently updated is a sorting option over catalog data. Legacy remains visible and clearly labeled rather than mixed into the current supported set without explanation. Approved refers to maintained catalog metadata, not automatic vendor certification.</a:t>
            </a:r>
          </a:p>
          <a:p xmlns:a="http://schemas.openxmlformats.org/drawingml/2006/main">
            <a:r>
              <a:t/>
            </a:r>
          </a:p>
          <a:p xmlns:a="http://schemas.openxmlformats.org/drawingml/2006/main">
            <a:r>
              <a:t>Evidence: src/App.tsx; src/catalog.ts; src/downloads.ts.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6–10, allow 1 minute. Guides can include approved links and references to supported documents. Updates include filtering for New, Releases and Notices. This is a catalog feed, not automated vendor monitoring or push notifications. Saved tools are browser-local and do not require an account. Share links can retain the selected tool/release. Developer Studio is the main mechanism for making routine content maintenance approachable.</a:t>
            </a:r>
          </a:p>
          <a:p xmlns:a="http://schemas.openxmlformats.org/drawingml/2006/main">
            <a:r>
              <a:t/>
            </a:r>
          </a:p>
          <a:p xmlns:a="http://schemas.openxmlformats.org/drawingml/2006/main">
            <a:r>
              <a:t>Evidence: README.md; src/components/UpdatesPage.tsx; src/catalogStorage.ts; src/toolLinks.ts; docs/DEVELOPER_STUDIO.md.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Show the search field, the filters, the sort control and the support column. Use a simple example such as finding IntelliJ or identifying a legacy tool. Do not read all the rows. The screenshot shows the actual local 1.6.0 interface and example catalog data.</a:t>
            </a:r>
          </a:p>
          <a:p xmlns:a="http://schemas.openxmlformats.org/drawingml/2006/main">
            <a:r>
              <a:t/>
            </a:r>
          </a:p>
          <a:p xmlns:a="http://schemas.openxmlformats.org/drawingml/2006/main">
            <a:r>
              <a:t>Evidence: Screenshot catalog.png, captured 14 September 2026; 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Show the version selector, download action, documentation button and support contact. Explain that maintainers can set a default release and keep more than one approved release. The screenshot is a close-up of the real record. The displayed atlas.local contact is example content and must be replaced or confirmed for organizational rollout. The catalog guides the user to a download; it does not install or patch software itself.</a:t>
            </a:r>
          </a:p>
          <a:p xmlns:a="http://schemas.openxmlformats.org/drawingml/2006/main">
            <a:r>
              <a:t/>
            </a:r>
          </a:p>
          <a:p xmlns:a="http://schemas.openxmlformats.org/drawingml/2006/main">
            <a:r>
              <a:t>Evidence: Screenshot tool-detail-crop.png, cropped from the 14 September 2026 capture; src/App.tsx; src/downloads.ts.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Point to the guide selector, Install section and support area. The tool and its instructions are connected, so users do not have to reconstruct setup from old messages. Direct navigation retains the chosen release when returning to the catalog. The guide itself is shared tool documentation, not an archived guide revision for every release.</a:t>
            </a:r>
          </a:p>
          <a:p xmlns:a="http://schemas.openxmlformats.org/drawingml/2006/main">
            <a:r>
              <a:t/>
            </a:r>
          </a:p>
          <a:p xmlns:a="http://schemas.openxmlformats.org/drawingml/2006/main">
            <a:r>
              <a:t>Evidence: Screenshot documentation.png, captured 14 September 2026; README.md, Sharing a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2 minutes. This is a central part of the proposal. Show Add Software and the Overview, Releases, Guides and Support sections. Routine catalog work happens in an interface instead of requiring maintainers to find folders and edit catalog files manually. A new record starts with a draft. Validation and the saved/unsaved status help the maintainer finish the change. The screenshot shows a demonstration draft that was not saved. Local Studio saves changes for review; it does not directly publish the production website.</a:t>
            </a:r>
          </a:p>
          <a:p xmlns:a="http://schemas.openxmlformats.org/drawingml/2006/main">
            <a:r>
              <a:t/>
            </a:r>
          </a:p>
          <a:p xmlns:a="http://schemas.openxmlformats.org/drawingml/2006/main">
            <a:r>
              <a:t>Evidence: Screenshot studio-new-software.png, captured 14 September 2026; src/components/DeveloperStudio.tsx; docs/DEVELOPER_STUDIO.md.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Show Add Release, the source selector and Make default. The same record can hold multiple approved releases. Maintainers can point to an approved HTTPS location or a reviewed file on the server. This makes routine version updates a repeatable task. A person still decides which release the organization supports. Publishing installer files remains a separate administrator operation.</a:t>
            </a:r>
          </a:p>
          <a:p xmlns:a="http://schemas.openxmlformats.org/drawingml/2006/main">
            <a:r>
              <a:t/>
            </a:r>
          </a:p>
          <a:p xmlns:a="http://schemas.openxmlformats.org/drawingml/2006/main">
            <a:r>
              <a:t>Evidence: Screenshot studio-releases.png, captured 14 September 2026; src/components/studio/ToolSections.tsx; docs/DEVELOPER_STUDIO.md.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90 seconds. Show the text editor and preview. Maintainers can edit installation and support instructions, attach approved guide links, and maintain existing system documentation from Studio. The Guides &amp; files area can reference approved SharePoint/intranet links or PDFs and PowerPoints already in the server library. Current Studio does not upload arbitrary binary files into that library; an administrator places those files first. Keep the explanation focused on easier routine content work.</a:t>
            </a:r>
          </a:p>
          <a:p xmlns:a="http://schemas.openxmlformats.org/drawingml/2006/main">
            <a:r>
              <a:t/>
            </a:r>
          </a:p>
          <a:p xmlns:a="http://schemas.openxmlformats.org/drawingml/2006/main">
            <a:r>
              <a:t>Evidence: Screenshot studio-guide-editor.png, captured 15 September 2026; docs/DEVELOPER_STUDIO.md; src/components/studio/ToolSections.tsx.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90 seconds. Read the diagram as the path from a maintainer’s change to what an employee sees. Studio manages the local source. Reviewed changes produce static files, which the chosen on-premises web server serves. The browser handles the user interface. This keeps reading and editing separate. Underneath, the source uses category/vendor/tool organization with tool metadata, release records and Markdown guides. Saved-tools preferences remain in the user’s browser.</a:t>
            </a:r>
          </a:p>
          <a:p xmlns:a="http://schemas.openxmlformats.org/drawingml/2006/main">
            <a:r>
              <a:t/>
            </a:r>
          </a:p>
          <a:p xmlns:a="http://schemas.openxmlformats.org/drawingml/2006/main">
            <a:r>
              <a:t>Evidence: README.md; docs/PROJECT_STRUCTURE.md; docs/DEVELOPER_STUDIO.md; Dockerfile; docs/WINDOWS_DEPLOYMENT.md.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Credit ChatGPT-assisted development as the project owner requested. Explain flexibility with concrete examples: adjust a page, extend filtering, add catalog metadata or improve a guide workflow. Content changes use Studio, while new product capabilities still require code changes and testing. Do not promise a fixed number of hours for every request. The benefit is the ability to make focused iterations on a small, modular application. The static runtime has no ChatGPT integration or AI service requirement.</a:t>
            </a:r>
          </a:p>
          <a:p xmlns:a="http://schemas.openxmlformats.org/drawingml/2006/main">
            <a:r>
              <a:t/>
            </a:r>
          </a:p>
          <a:p xmlns:a="http://schemas.openxmlformats.org/drawingml/2006/main">
            <a:r>
              <a:t>Evidence: User statement that the project was built with ChatGPT; src/components; README.md; 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about 1 minute. Keep this brief. The documented deployment choices include IIS on Windows and a Linux container with NGINX, optionally behind the documented HTTPS proxy. Internal access policy belongs to the selected hosting/network boundary. No application login is built into the reading catalog; this does not mean all organizational content should be publicly accessible. The project owner reports reviews using Artifactory and ChatGPT Daybreak Blue. Scan reports, dates, exact scanned revisions and remaining findings were not supplied for this deck, so do not claim certification or zero vulnerabilities. Normal host, web-server and dependency upkeep remains. External vendor or SharePoint links can require their normal network access even when the catalog is hosted internally.</a:t>
            </a:r>
          </a:p>
          <a:p xmlns:a="http://schemas.openxmlformats.org/drawingml/2006/main">
            <a:r>
              <a:t/>
            </a:r>
          </a:p>
          <a:p xmlns:a="http://schemas.openxmlformats.org/drawingml/2006/main">
            <a:r>
              <a:t>Evidence: User confirmation of Artifactory and ChatGPT Daybreak Blue reviews; docs/SECURITY_REPORT.md; docs/PRODUCTION_DEPLOYMENT.md; docs/WINDOWS_DEPLOYMENT.md.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The old catalog was not consistently managed. The new interface reduces the effort of everyday maintenance, but named people must still own the information. Confirm the catalog owner, tool support owners and deployment operator. Propose a regular content check and immediate updates when an owner, download or supported release changes. Do not claim that a review reminder or automatic vendor monitoring is implemented. Local edits remain reviewable, and the deployment process provides a recovery path.</a:t>
            </a:r>
          </a:p>
          <a:p xmlns:a="http://schemas.openxmlformats.org/drawingml/2006/main">
            <a:r>
              <a:t/>
            </a:r>
          </a:p>
          <a:p xmlns:a="http://schemas.openxmlformats.org/drawingml/2006/main">
            <a:r>
              <a:t>Evidence: docs/DEVELOPER_STUDIO.md; docs/PROJECT_STRUCTURE.md; docs/PRODUCTION_DEPLOYMENT.md; proposed operating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Present these as expected benefits, not measured savings. The strongest proof is a completed employee task plus a completed maintainer task. Ask a new user to find a tool, its version, guide and support contact. Ask a maintainer to update a release or guide through Studio. Record where help is needed and what should improve. This evaluates both adoption and the cost of keeping the catalog alive.</a:t>
            </a:r>
          </a:p>
          <a:p xmlns:a="http://schemas.openxmlformats.org/drawingml/2006/main">
            <a:r>
              <a:t/>
            </a:r>
          </a:p>
          <a:p xmlns:a="http://schemas.openxmlformats.org/drawingml/2006/main">
            <a:r>
              <a:t>Evidence: Proposed benefits based on the user’s reported problems and the demonstrated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about 1 minute. Ask for approval to move ahead with a controlled rollout and named responsibilities. The initial preparation includes real support contacts, approved releases, usable guides and a discoverable internal address. The pilot should test both the reading catalog and Developer Studio. No specific budget or launch date has been agreed. Leave the remaining meeting time for questions and the optional demonstrations in the appendix.</a:t>
            </a:r>
          </a:p>
          <a:p xmlns:a="http://schemas.openxmlformats.org/drawingml/2006/main">
            <a:r>
              <a:t/>
            </a:r>
          </a:p>
          <a:p xmlns:a="http://schemas.openxmlformats.org/drawingml/2006/main">
            <a:r>
              <a:t>Evidence: Proposed approval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1 minute. Show the New, Releases and Notices filters. These are categories in the maintained catalog feed. The page does not automatically discover vendor releases or send alerts. Current screenshot dates and relative labels are example catalog metadata. Use this slide if leadership asks how users discover what changed.</a:t>
            </a:r>
          </a:p>
          <a:p xmlns:a="http://schemas.openxmlformats.org/drawingml/2006/main">
            <a:r>
              <a:t/>
            </a:r>
          </a:p>
          <a:p xmlns:a="http://schemas.openxmlformats.org/drawingml/2006/main">
            <a:r>
              <a:t>Evidence: Screenshot updates.png, captured 14 September 2026; src/components/UpdatesPage.tsx; src/catalog.ts.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1 minute. Show the document list and edit/preview workspace. This makes existing operational documentation easier to maintain alongside the catalog. Current Studio lists existing system Markdown documents; do not present this screen as an arbitrary file-upload or new-system-document creation facility. Demo sequence: find a software record, open Releases, open Guides and its preview, then switch to System docs. Do not save a demonstration change into live content.</a:t>
            </a:r>
          </a:p>
          <a:p xmlns:a="http://schemas.openxmlformats.org/drawingml/2006/main">
            <a:r>
              <a:t/>
            </a:r>
          </a:p>
          <a:p xmlns:a="http://schemas.openxmlformats.org/drawingml/2006/main">
            <a:r>
              <a:t>Evidence: Screenshot studio-docs.png, captured 14 September 2026; src/components/DeveloperStudio.tsx; docs/DEVELOPER_STUDIO.md.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5568bf5ba949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5c2078d5114670" /><Relationship Type="http://schemas.openxmlformats.org/officeDocument/2006/relationships/slideLayout" Target="/ppt/slideLayouts/slideLayout1.xml" Id="Rb1a5ba465ce34d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a5ba465ce34d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8c72974547453c" /><Relationship Type="http://schemas.openxmlformats.org/officeDocument/2006/relationships/notesSlide" Target="/ppt/notesSlides/notesSlide1.xml" Id="Reac9b3eda08242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66741e66db419a" /><Relationship Type="http://schemas.openxmlformats.org/officeDocument/2006/relationships/notesSlide" Target="/ppt/notesSlides/notesSlide2.xml" Id="Rd0b3bbafe69a45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d48cac751f4db1" /><Relationship Type="http://schemas.openxmlformats.org/officeDocument/2006/relationships/notesSlide" Target="/ppt/notesSlides/notesSlide3.xml" Id="R8f79324e667242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ab9029ff5d41d4" /><Relationship Type="http://schemas.openxmlformats.org/officeDocument/2006/relationships/notesSlide" Target="/ppt/notesSlides/notesSlide4.xml" Id="R3dbb32cc38f64c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1ea54fb35d427f" /><Relationship Type="http://schemas.openxmlformats.org/officeDocument/2006/relationships/image" Target="/ppt/media/image.jpeg" Id="Rba12023108ce4164" /><Relationship Type="http://schemas.openxmlformats.org/officeDocument/2006/relationships/notesSlide" Target="/ppt/notesSlides/notesSlide5.xml" Id="R649554623b584b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c81bf53d224658" /><Relationship Type="http://schemas.openxmlformats.org/officeDocument/2006/relationships/image" Target="/ppt/media/image.png" Id="R50ba1e304a5e41cd" /><Relationship Type="http://schemas.openxmlformats.org/officeDocument/2006/relationships/notesSlide" Target="/ppt/notesSlides/notesSlide6.xml" Id="R3fb7ea8b9d4241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750b72f69b4156" /><Relationship Type="http://schemas.openxmlformats.org/officeDocument/2006/relationships/image" Target="/ppt/media/image2.jpeg" Id="R7c4b709969914265" /><Relationship Type="http://schemas.openxmlformats.org/officeDocument/2006/relationships/notesSlide" Target="/ppt/notesSlides/notesSlide7.xml" Id="Rb48dfa480e9a40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a2b0119a744e97" /><Relationship Type="http://schemas.openxmlformats.org/officeDocument/2006/relationships/image" Target="/ppt/media/image3.jpeg" Id="Rfdfc4a828c0149a3" /><Relationship Type="http://schemas.openxmlformats.org/officeDocument/2006/relationships/notesSlide" Target="/ppt/notesSlides/notesSlide8.xml" Id="R8e66cfb37e0741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e36b2997ba447b" /><Relationship Type="http://schemas.openxmlformats.org/officeDocument/2006/relationships/image" Target="/ppt/media/image4.jpeg" Id="R8d5fbfaeb6614b17" /><Relationship Type="http://schemas.openxmlformats.org/officeDocument/2006/relationships/notesSlide" Target="/ppt/notesSlides/notesSlide9.xml" Id="R8a4dc6b03aaf4c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7c9f64b3714354" /><Relationship Type="http://schemas.openxmlformats.org/officeDocument/2006/relationships/image" Target="/ppt/media/image5.jpeg" Id="Rcd054b69652945b0" /><Relationship Type="http://schemas.openxmlformats.org/officeDocument/2006/relationships/notesSlide" Target="/ppt/notesSlides/notesSlide10.xml" Id="R7b15189644054f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7af11855ec45a7" /><Relationship Type="http://schemas.openxmlformats.org/officeDocument/2006/relationships/notesSlide" Target="/ppt/notesSlides/notesSlide11.xml" Id="Rdaabdaec7a5449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96c1b620d9b4e97" /><Relationship Type="http://schemas.openxmlformats.org/officeDocument/2006/relationships/notesSlide" Target="/ppt/notesSlides/notesSlide12.xml" Id="R539fe2fca2614d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07ebbb6c194269" /><Relationship Type="http://schemas.openxmlformats.org/officeDocument/2006/relationships/notesSlide" Target="/ppt/notesSlides/notesSlide13.xml" Id="Rdf71bc868d7a47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b4e0ebe94d4b33" /><Relationship Type="http://schemas.openxmlformats.org/officeDocument/2006/relationships/notesSlide" Target="/ppt/notesSlides/notesSlide14.xml" Id="R2036155abfda44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30a7c7b78ef4752" /><Relationship Type="http://schemas.openxmlformats.org/officeDocument/2006/relationships/notesSlide" Target="/ppt/notesSlides/notesSlide15.xml" Id="R708de358628944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004d68cf8094779" /><Relationship Type="http://schemas.openxmlformats.org/officeDocument/2006/relationships/notesSlide" Target="/ppt/notesSlides/notesSlide16.xml" Id="R033f5c63723e4d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106df084254500" /><Relationship Type="http://schemas.openxmlformats.org/officeDocument/2006/relationships/image" Target="/ppt/media/image6.jpeg" Id="R530509fa62e3444b" /><Relationship Type="http://schemas.openxmlformats.org/officeDocument/2006/relationships/notesSlide" Target="/ppt/notesSlides/notesSlide17.xml" Id="Rb1d8cba8b2b242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3ecac91c5b245d2" /><Relationship Type="http://schemas.openxmlformats.org/officeDocument/2006/relationships/image" Target="/ppt/media/image7.jpeg" Id="R424b0ebbab3c43b6" /><Relationship Type="http://schemas.openxmlformats.org/officeDocument/2006/relationships/notesSlide" Target="/ppt/notesSlides/notesSlide18.xml" Id="Rde51794346fc450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7ED988-E24C-46D7-A320-3FDF50A7DE3A}"/>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Why we needed a new catalog</a:t>
            </a:r>
          </a:p>
        </p:txBody>
      </p:sp>
      <p:sp>
        <p:nvSpPr>
          <p:cNvPr id="2" name="">
            <a:extLst xmlns:a="http://schemas.openxmlformats.org/drawingml/2006/main">
              <a:ext uri="{FF2B5EF4-FFF2-40B4-BE49-F238E27FC236}">
                <a16:creationId xmlns:a16="http://schemas.microsoft.com/office/drawing/2014/main" id="{0A410C79-9D88-49E3-ACFC-5E174406A309}"/>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66906DA5-C6EF-4450-86C1-458264A0BE32}"/>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a:t>
            </a:r>
          </a:p>
        </p:txBody>
      </p:sp>
      <p:sp>
        <p:nvSpPr>
          <p:cNvPr id="4" name="">
            <a:extLst xmlns:a="http://schemas.openxmlformats.org/drawingml/2006/main">
              <a:ext uri="{FF2B5EF4-FFF2-40B4-BE49-F238E27FC236}">
                <a16:creationId xmlns:a16="http://schemas.microsoft.com/office/drawing/2014/main" id="{078FE677-B3DB-4A6B-9BE0-FEEF51ABE02C}"/>
              </a:ext>
            </a:extLst>
          </p:cNvPr>
          <p:cNvSpPr>
            <a:spLocks xmlns:a="http://schemas.openxmlformats.org/drawingml/2006/main" noGrp="1"/>
          </p:cNvSpPr>
          <p:nvPr/>
        </p:nvSpPr>
        <p:spPr>
          <a:xfrm xmlns:a="http://schemas.openxmlformats.org/drawingml/2006/main">
            <a:off x="781050" y="1638300"/>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2400"/>
              </a:spcAft>
              <a:buChar char="•"/>
              <a:defRPr sz="2475" b="0">
                <a:solidFill>
                  <a:srgbClr val="182A3C"/>
                </a:solidFill>
                <a:latin typeface="Liberation Sans"/>
                <a:ea typeface="Liberation Sans"/>
                <a:cs typeface="Liberation Sans"/>
              </a:defRPr>
            </a:pPr>
            <a:r>
              <a:t>The old design and structure made navigation difficult.</a:t>
            </a:r>
          </a:p>
          <a:p xmlns:a="http://schemas.openxmlformats.org/drawingml/2006/main">
            <a:pPr marL="266700" indent="-139700">
              <a:spcAft>
                <a:spcPts val="2400"/>
              </a:spcAft>
              <a:buChar char="•"/>
              <a:defRPr sz="2475" b="0">
                <a:solidFill>
                  <a:srgbClr val="182A3C"/>
                </a:solidFill>
                <a:latin typeface="Liberation Sans"/>
                <a:ea typeface="Liberation Sans"/>
                <a:cs typeface="Liberation Sans"/>
              </a:defRPr>
            </a:pPr>
            <a:r>
              <a:t>Software information became outdated, with no regular upkeep.</a:t>
            </a:r>
          </a:p>
          <a:p xmlns:a="http://schemas.openxmlformats.org/drawingml/2006/main">
            <a:pPr marL="266700" indent="-139700">
              <a:spcAft>
                <a:spcPts val="2400"/>
              </a:spcAft>
              <a:buChar char="•"/>
              <a:defRPr sz="2475" b="0">
                <a:solidFill>
                  <a:srgbClr val="182A3C"/>
                </a:solidFill>
                <a:latin typeface="Liberation Sans"/>
                <a:ea typeface="Liberation Sans"/>
                <a:cs typeface="Liberation Sans"/>
              </a:defRPr>
            </a:pPr>
            <a:r>
              <a:t>Users could not easily identify who supported each tool.</a:t>
            </a:r>
          </a:p>
          <a:p xmlns:a="http://schemas.openxmlformats.org/drawingml/2006/main">
            <a:pPr marL="266700" indent="-139700">
              <a:spcAft>
                <a:spcPts val="2400"/>
              </a:spcAft>
              <a:buChar char="•"/>
              <a:defRPr sz="2475" b="0">
                <a:solidFill>
                  <a:srgbClr val="182A3C"/>
                </a:solidFill>
                <a:latin typeface="Liberation Sans"/>
                <a:ea typeface="Liberation Sans"/>
                <a:cs typeface="Liberation Sans"/>
              </a:defRPr>
            </a:pPr>
            <a:r>
              <a:t>People needed a link and personal guidance to use the site.</a:t>
            </a:r>
          </a:p>
        </p:txBody>
      </p:sp>
      <p:sp>
        <p:nvSpPr>
          <p:cNvPr id="5" name="">
            <a:extLst xmlns:a="http://schemas.openxmlformats.org/drawingml/2006/main">
              <a:ext uri="{FF2B5EF4-FFF2-40B4-BE49-F238E27FC236}">
                <a16:creationId xmlns:a16="http://schemas.microsoft.com/office/drawing/2014/main" id="{4F5EFBB0-A0F1-49EB-AFE7-6C4DB1740539}"/>
              </a:ext>
            </a:extLst>
          </p:cNvPr>
          <p:cNvSpPr>
            <a:spLocks xmlns:a="http://schemas.openxmlformats.org/drawingml/2006/main" noGrp="1"/>
          </p:cNvSpPr>
          <p:nvPr/>
        </p:nvSpPr>
        <p:spPr>
          <a:xfrm xmlns:a="http://schemas.openxmlformats.org/drawingml/2006/main">
            <a:off x="685800" y="58578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85E8A"/>
                </a:solidFill>
                <a:latin typeface="Liberation Sans"/>
                <a:ea typeface="Liberation Sans"/>
                <a:cs typeface="Liberation Sans"/>
              </a:defRPr>
            </a:pPr>
            <a:r>
              <a:rPr sz="2175" b="1">
                <a:solidFill>
                  <a:srgbClr val="285E8A"/>
                </a:solidFill>
                <a:latin typeface="Liberation Sans"/>
                <a:ea typeface="Liberation Sans"/>
                <a:cs typeface="Liberation Sans"/>
              </a:rPr>
              <a:t>The problem was usability, organization and ongoing ownership.</a:t>
            </a:r>
          </a:p>
        </p:txBody>
      </p:sp>
    </p:spTree>
    <p:extLst>
      <p:ext uri="{BB962C8B-B14F-4D97-AF65-F5344CB8AC3E}">
        <p14:creationId xmlns:p14="http://schemas.microsoft.com/office/powerpoint/2010/main" val="1901275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EEDE06-890E-4556-B9B4-3D067264221E}"/>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A catalog people can use and maintain</a:t>
            </a:r>
          </a:p>
        </p:txBody>
      </p:sp>
      <p:sp>
        <p:nvSpPr>
          <p:cNvPr id="2" name="">
            <a:extLst xmlns:a="http://schemas.openxmlformats.org/drawingml/2006/main">
              <a:ext uri="{FF2B5EF4-FFF2-40B4-BE49-F238E27FC236}">
                <a16:creationId xmlns:a16="http://schemas.microsoft.com/office/drawing/2014/main" id="{39C02570-8CB0-4446-AF7B-F60F32476FF2}"/>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29978656-E630-403B-8BDA-0D8D1BB69D90}"/>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2</a:t>
            </a:r>
          </a:p>
        </p:txBody>
      </p:sp>
      <p:sp>
        <p:nvSpPr>
          <p:cNvPr id="4" name="">
            <a:extLst xmlns:a="http://schemas.openxmlformats.org/drawingml/2006/main">
              <a:ext uri="{FF2B5EF4-FFF2-40B4-BE49-F238E27FC236}">
                <a16:creationId xmlns:a16="http://schemas.microsoft.com/office/drawing/2014/main" id="{834974DE-8C9E-4112-8DC6-AAB399526AB1}"/>
              </a:ext>
            </a:extLst>
          </p:cNvPr>
          <p:cNvSpPr>
            <a:spLocks xmlns:a="http://schemas.openxmlformats.org/drawingml/2006/main" noGrp="1"/>
          </p:cNvSpPr>
          <p:nvPr/>
        </p:nvSpPr>
        <p:spPr>
          <a:xfrm xmlns:a="http://schemas.openxmlformats.org/drawingml/2006/main">
            <a:off x="781050" y="1638300"/>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2400"/>
              </a:spcAft>
              <a:buChar char="•"/>
              <a:defRPr sz="2400" b="0">
                <a:solidFill>
                  <a:srgbClr val="182A3C"/>
                </a:solidFill>
                <a:latin typeface="Liberation Sans"/>
                <a:ea typeface="Liberation Sans"/>
                <a:cs typeface="Liberation Sans"/>
              </a:defRPr>
            </a:pPr>
            <a:r>
              <a:t>Employees get one place for supported software and practical guidance.</a:t>
            </a:r>
          </a:p>
          <a:p xmlns:a="http://schemas.openxmlformats.org/drawingml/2006/main">
            <a:pPr marL="266700" indent="-139700">
              <a:spcAft>
                <a:spcPts val="2400"/>
              </a:spcAft>
              <a:buChar char="•"/>
              <a:defRPr sz="2400" b="0">
                <a:solidFill>
                  <a:srgbClr val="182A3C"/>
                </a:solidFill>
                <a:latin typeface="Liberation Sans"/>
                <a:ea typeface="Liberation Sans"/>
                <a:cs typeface="Liberation Sans"/>
              </a:defRPr>
            </a:pPr>
            <a:r>
              <a:t>Support ownership and lifecycle status stay beside each tool.</a:t>
            </a:r>
          </a:p>
          <a:p xmlns:a="http://schemas.openxmlformats.org/drawingml/2006/main">
            <a:pPr marL="266700" indent="-139700">
              <a:spcAft>
                <a:spcPts val="2400"/>
              </a:spcAft>
              <a:buChar char="•"/>
              <a:defRPr sz="2400" b="0">
                <a:solidFill>
                  <a:srgbClr val="182A3C"/>
                </a:solidFill>
                <a:latin typeface="Liberation Sans"/>
                <a:ea typeface="Liberation Sans"/>
                <a:cs typeface="Liberation Sans"/>
              </a:defRPr>
            </a:pPr>
            <a:r>
              <a:t>Developer Studio gives maintainers an interface for routine changes.</a:t>
            </a:r>
          </a:p>
          <a:p xmlns:a="http://schemas.openxmlformats.org/drawingml/2006/main">
            <a:pPr marL="266700" indent="-139700">
              <a:spcAft>
                <a:spcPts val="2400"/>
              </a:spcAft>
              <a:buChar char="•"/>
              <a:defRPr sz="2400" b="0">
                <a:solidFill>
                  <a:srgbClr val="182A3C"/>
                </a:solidFill>
                <a:latin typeface="Liberation Sans"/>
                <a:ea typeface="Liberation Sans"/>
                <a:cs typeface="Liberation Sans"/>
              </a:defRPr>
            </a:pPr>
            <a:r>
              <a:t>A controlled publishing process keeps the website consistent.</a:t>
            </a:r>
          </a:p>
        </p:txBody>
      </p:sp>
      <p:sp>
        <p:nvSpPr>
          <p:cNvPr id="5" name="">
            <a:extLst xmlns:a="http://schemas.openxmlformats.org/drawingml/2006/main">
              <a:ext uri="{FF2B5EF4-FFF2-40B4-BE49-F238E27FC236}">
                <a16:creationId xmlns:a16="http://schemas.microsoft.com/office/drawing/2014/main" id="{3C47E5D9-9B4B-4FB4-A830-1599944FF226}"/>
              </a:ext>
            </a:extLst>
          </p:cNvPr>
          <p:cNvSpPr>
            <a:spLocks xmlns:a="http://schemas.openxmlformats.org/drawingml/2006/main" noGrp="1"/>
          </p:cNvSpPr>
          <p:nvPr/>
        </p:nvSpPr>
        <p:spPr>
          <a:xfrm xmlns:a="http://schemas.openxmlformats.org/drawingml/2006/main">
            <a:off x="685800" y="58578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85E8A"/>
                </a:solidFill>
                <a:latin typeface="Liberation Sans"/>
                <a:ea typeface="Liberation Sans"/>
                <a:cs typeface="Liberation Sans"/>
              </a:defRPr>
            </a:pPr>
            <a:r>
              <a:rPr sz="2175" b="1">
                <a:solidFill>
                  <a:srgbClr val="285E8A"/>
                </a:solidFill>
                <a:latin typeface="Liberation Sans"/>
                <a:ea typeface="Liberation Sans"/>
                <a:cs typeface="Liberation Sans"/>
              </a:rPr>
              <a:t>The goal: make the catalog useful today and easy to maintain over time.</a:t>
            </a:r>
          </a:p>
        </p:txBody>
      </p:sp>
    </p:spTree>
    <p:extLst>
      <p:ext uri="{BB962C8B-B14F-4D97-AF65-F5344CB8AC3E}">
        <p14:creationId xmlns:p14="http://schemas.microsoft.com/office/powerpoint/2010/main" val="19853426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4209DC-8D20-478B-B870-BCC90B65F8D4}"/>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Top 10 features: finding the right software</a:t>
            </a:r>
          </a:p>
        </p:txBody>
      </p:sp>
      <p:sp>
        <p:nvSpPr>
          <p:cNvPr id="2" name="">
            <a:extLst xmlns:a="http://schemas.openxmlformats.org/drawingml/2006/main">
              <a:ext uri="{FF2B5EF4-FFF2-40B4-BE49-F238E27FC236}">
                <a16:creationId xmlns:a16="http://schemas.microsoft.com/office/drawing/2014/main" id="{EECB4420-CDF4-4068-865C-F938FC3855AF}"/>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7BDF33B3-5BE3-4EA2-9048-DB71AF5C48F8}"/>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3</a:t>
            </a:r>
          </a:p>
        </p:txBody>
      </p:sp>
      <p:sp>
        <p:nvSpPr>
          <p:cNvPr id="4" name="">
            <a:extLst xmlns:a="http://schemas.openxmlformats.org/drawingml/2006/main">
              <a:ext uri="{FF2B5EF4-FFF2-40B4-BE49-F238E27FC236}">
                <a16:creationId xmlns:a16="http://schemas.microsoft.com/office/drawing/2014/main" id="{B1468D3A-51DD-4C8C-99A6-678908C96712}"/>
              </a:ext>
            </a:extLst>
          </p:cNvPr>
          <p:cNvSpPr>
            <a:spLocks xmlns:a="http://schemas.openxmlformats.org/drawingml/2006/main" noGrp="1"/>
          </p:cNvSpPr>
          <p:nvPr/>
        </p:nvSpPr>
        <p:spPr>
          <a:xfrm xmlns:a="http://schemas.openxmlformats.org/drawingml/2006/main">
            <a:off x="781050" y="1438275"/>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Search by software name, vendor or tags.</a:t>
            </a:r>
          </a:p>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Filter by category, platform and lifecycle: Current, New or Legacy.</a:t>
            </a:r>
          </a:p>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Sort by name, category or most recently updated.</a:t>
            </a:r>
          </a:p>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Choose an approved version and its download source.</a:t>
            </a:r>
          </a:p>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See the support owner, responsible team and contact details.</a:t>
            </a:r>
          </a:p>
        </p:txBody>
      </p:sp>
    </p:spTree>
    <p:extLst>
      <p:ext uri="{BB962C8B-B14F-4D97-AF65-F5344CB8AC3E}">
        <p14:creationId xmlns:p14="http://schemas.microsoft.com/office/powerpoint/2010/main" val="13597548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52A724-F357-4684-948D-F1A76F2C42D0}"/>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Top 10 features: using and maintaining it</a:t>
            </a:r>
          </a:p>
        </p:txBody>
      </p:sp>
      <p:sp>
        <p:nvSpPr>
          <p:cNvPr id="2" name="">
            <a:extLst xmlns:a="http://schemas.openxmlformats.org/drawingml/2006/main">
              <a:ext uri="{FF2B5EF4-FFF2-40B4-BE49-F238E27FC236}">
                <a16:creationId xmlns:a16="http://schemas.microsoft.com/office/drawing/2014/main" id="{FFA5F33C-0FD2-4B98-8DE6-9DF890870753}"/>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3F69CACF-BDA7-4FD2-B331-EA2DE4293E5A}"/>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4</a:t>
            </a:r>
          </a:p>
        </p:txBody>
      </p:sp>
      <p:sp>
        <p:nvSpPr>
          <p:cNvPr id="4" name="">
            <a:extLst xmlns:a="http://schemas.openxmlformats.org/drawingml/2006/main">
              <a:ext uri="{FF2B5EF4-FFF2-40B4-BE49-F238E27FC236}">
                <a16:creationId xmlns:a16="http://schemas.microsoft.com/office/drawing/2014/main" id="{8D9CBB14-D56C-447C-9C6B-C6E42F79315E}"/>
              </a:ext>
            </a:extLst>
          </p:cNvPr>
          <p:cNvSpPr>
            <a:spLocks xmlns:a="http://schemas.openxmlformats.org/drawingml/2006/main" noGrp="1"/>
          </p:cNvSpPr>
          <p:nvPr/>
        </p:nvSpPr>
        <p:spPr>
          <a:xfrm xmlns:a="http://schemas.openxmlformats.org/drawingml/2006/main">
            <a:off x="781050" y="1438275"/>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Documentation and guides with installation and support instructions.</a:t>
            </a:r>
          </a:p>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Recent updates, release information and catalog notices.</a:t>
            </a:r>
          </a:p>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Saved tools for quick access in the same browser.</a:t>
            </a:r>
          </a:p>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Shareable links to a tool, selected version or filtered view.</a:t>
            </a:r>
          </a:p>
          <a:p xmlns:a="http://schemas.openxmlformats.org/drawingml/2006/main">
            <a:pPr marL="266700" indent="-139700">
              <a:spcAft>
                <a:spcPts val="1900"/>
              </a:spcAft>
              <a:buChar char="•"/>
              <a:defRPr sz="2400" b="0">
                <a:solidFill>
                  <a:srgbClr val="182A3C"/>
                </a:solidFill>
                <a:latin typeface="Liberation Sans"/>
                <a:ea typeface="Liberation Sans"/>
                <a:cs typeface="Liberation Sans"/>
              </a:defRPr>
            </a:pPr>
            <a:r>
              <a:t>Developer Studio for software, versions, guides and support details.</a:t>
            </a:r>
          </a:p>
        </p:txBody>
      </p:sp>
    </p:spTree>
    <p:extLst>
      <p:ext uri="{BB962C8B-B14F-4D97-AF65-F5344CB8AC3E}">
        <p14:creationId xmlns:p14="http://schemas.microsoft.com/office/powerpoint/2010/main" val="12784342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B7DD59-4A93-4A20-8B68-74883F3E638A}"/>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The software catalog</a:t>
            </a:r>
          </a:p>
        </p:txBody>
      </p:sp>
      <p:sp>
        <p:nvSpPr>
          <p:cNvPr id="2" name="">
            <a:extLst xmlns:a="http://schemas.openxmlformats.org/drawingml/2006/main">
              <a:ext uri="{FF2B5EF4-FFF2-40B4-BE49-F238E27FC236}">
                <a16:creationId xmlns:a16="http://schemas.microsoft.com/office/drawing/2014/main" id="{F69219CA-220C-484A-A0AC-AF5CFD2216D9}"/>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4DEDE1C1-C913-4310-9201-FEAB3755BBE8}"/>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a12023108ce4164"/>
          <a:stretch xmlns:a="http://schemas.openxmlformats.org/drawingml/2006/main"/>
        </p:blipFill>
        <p:spPr>
          <a:xfrm xmlns:a="http://schemas.openxmlformats.org/drawingml/2006/main">
            <a:off x="2102189" y="1314450"/>
            <a:ext cx="7987622"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FDD25C-2D73-488C-8BB7-B4B618DDDDF3}"/>
              </a:ext>
            </a:extLst>
          </p:cNvPr>
          <p:cNvSpPr>
            <a:spLocks xmlns:a="http://schemas.openxmlformats.org/drawingml/2006/main" noGrp="1"/>
          </p:cNvSpPr>
          <p:nvPr/>
        </p:nvSpPr>
        <p:spPr>
          <a:xfrm xmlns:a="http://schemas.openxmlformats.org/drawingml/2006/main">
            <a:off x="685800" y="60102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473"/>
                </a:solidFill>
                <a:latin typeface="Liberation Sans"/>
                <a:ea typeface="Liberation Sans"/>
                <a:cs typeface="Liberation Sans"/>
              </a:defRPr>
            </a:pPr>
            <a:r>
              <a:rPr sz="1875" b="0">
                <a:solidFill>
                  <a:srgbClr val="566473"/>
                </a:solidFill>
                <a:latin typeface="Liberation Sans"/>
                <a:ea typeface="Liberation Sans"/>
                <a:cs typeface="Liberation Sans"/>
              </a:rPr>
              <a:t>Search, filtering and sorting help users find the supported tool they need.</a:t>
            </a:r>
          </a:p>
        </p:txBody>
      </p:sp>
    </p:spTree>
    <p:extLst>
      <p:ext uri="{BB962C8B-B14F-4D97-AF65-F5344CB8AC3E}">
        <p14:creationId xmlns:p14="http://schemas.microsoft.com/office/powerpoint/2010/main" val="15282348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800831-0306-4559-951D-84F307F842A4}"/>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Versions and support in one record</a:t>
            </a:r>
          </a:p>
        </p:txBody>
      </p:sp>
      <p:sp>
        <p:nvSpPr>
          <p:cNvPr id="2" name="">
            <a:extLst xmlns:a="http://schemas.openxmlformats.org/drawingml/2006/main">
              <a:ext uri="{FF2B5EF4-FFF2-40B4-BE49-F238E27FC236}">
                <a16:creationId xmlns:a16="http://schemas.microsoft.com/office/drawing/2014/main" id="{A5D2F018-484A-4D48-ACA9-EA2678309C97}"/>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FF9AD229-CA52-4930-A537-0AC62E380621}"/>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0ba1e304a5e41cd"/>
          <a:stretch xmlns:a="http://schemas.openxmlformats.org/drawingml/2006/main"/>
        </p:blipFill>
        <p:spPr>
          <a:xfrm xmlns:a="http://schemas.openxmlformats.org/drawingml/2006/main">
            <a:off x="685800" y="1689326"/>
            <a:ext cx="10820400" cy="395559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40064F8-E9C6-4404-BD53-6D8E0FA13B66}"/>
              </a:ext>
            </a:extLst>
          </p:cNvPr>
          <p:cNvSpPr>
            <a:spLocks xmlns:a="http://schemas.openxmlformats.org/drawingml/2006/main" noGrp="1"/>
          </p:cNvSpPr>
          <p:nvPr/>
        </p:nvSpPr>
        <p:spPr>
          <a:xfrm xmlns:a="http://schemas.openxmlformats.org/drawingml/2006/main">
            <a:off x="685800" y="60102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473"/>
                </a:solidFill>
                <a:latin typeface="Liberation Sans"/>
                <a:ea typeface="Liberation Sans"/>
                <a:cs typeface="Liberation Sans"/>
              </a:defRPr>
            </a:pPr>
            <a:r>
              <a:rPr sz="1875" b="0">
                <a:solidFill>
                  <a:srgbClr val="566473"/>
                </a:solidFill>
                <a:latin typeface="Liberation Sans"/>
                <a:ea typeface="Liberation Sans"/>
                <a:cs typeface="Liberation Sans"/>
              </a:rPr>
              <a:t>An approved release, a guide and a named support contact stay together.</a:t>
            </a:r>
          </a:p>
        </p:txBody>
      </p:sp>
    </p:spTree>
    <p:extLst>
      <p:ext uri="{BB962C8B-B14F-4D97-AF65-F5344CB8AC3E}">
        <p14:creationId xmlns:p14="http://schemas.microsoft.com/office/powerpoint/2010/main" val="102456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4EA631-4E7A-4962-8AD2-C343E1FC1237}"/>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Documentation beside the software</a:t>
            </a:r>
          </a:p>
        </p:txBody>
      </p:sp>
      <p:sp>
        <p:nvSpPr>
          <p:cNvPr id="2" name="">
            <a:extLst xmlns:a="http://schemas.openxmlformats.org/drawingml/2006/main">
              <a:ext uri="{FF2B5EF4-FFF2-40B4-BE49-F238E27FC236}">
                <a16:creationId xmlns:a16="http://schemas.microsoft.com/office/drawing/2014/main" id="{89CB3C0A-E26B-4E28-9D88-D6A5936C3538}"/>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500E123E-6944-4EF8-9D60-5313CA22FC91}"/>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c4b709969914265"/>
          <a:stretch xmlns:a="http://schemas.openxmlformats.org/drawingml/2006/main"/>
        </p:blipFill>
        <p:spPr>
          <a:xfrm xmlns:a="http://schemas.openxmlformats.org/drawingml/2006/main">
            <a:off x="2102189" y="1314450"/>
            <a:ext cx="7987622"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8E078AA-8028-4207-9106-D4035ED1519A}"/>
              </a:ext>
            </a:extLst>
          </p:cNvPr>
          <p:cNvSpPr>
            <a:spLocks xmlns:a="http://schemas.openxmlformats.org/drawingml/2006/main" noGrp="1"/>
          </p:cNvSpPr>
          <p:nvPr/>
        </p:nvSpPr>
        <p:spPr>
          <a:xfrm xmlns:a="http://schemas.openxmlformats.org/drawingml/2006/main">
            <a:off x="685800" y="60102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473"/>
                </a:solidFill>
                <a:latin typeface="Liberation Sans"/>
                <a:ea typeface="Liberation Sans"/>
                <a:cs typeface="Liberation Sans"/>
              </a:defRPr>
            </a:pPr>
            <a:r>
              <a:rPr sz="1875" b="0">
                <a:solidFill>
                  <a:srgbClr val="566473"/>
                </a:solidFill>
                <a:latin typeface="Liberation Sans"/>
                <a:ea typeface="Liberation Sans"/>
                <a:cs typeface="Liberation Sans"/>
              </a:rPr>
              <a:t>Users can open setup guidance and return directly to the relevant catalog entry.</a:t>
            </a:r>
          </a:p>
        </p:txBody>
      </p:sp>
    </p:spTree>
    <p:extLst>
      <p:ext uri="{BB962C8B-B14F-4D97-AF65-F5344CB8AC3E}">
        <p14:creationId xmlns:p14="http://schemas.microsoft.com/office/powerpoint/2010/main" val="16567701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02BB14-1043-48CA-8379-8CE04CE51F20}"/>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Developer Studio makes maintenance easier</a:t>
            </a:r>
          </a:p>
        </p:txBody>
      </p:sp>
      <p:sp>
        <p:nvSpPr>
          <p:cNvPr id="2" name="">
            <a:extLst xmlns:a="http://schemas.openxmlformats.org/drawingml/2006/main">
              <a:ext uri="{FF2B5EF4-FFF2-40B4-BE49-F238E27FC236}">
                <a16:creationId xmlns:a16="http://schemas.microsoft.com/office/drawing/2014/main" id="{A39E3EB4-D556-4957-BE38-D377E58C76C8}"/>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CD24A532-B006-42B5-AD6D-1F2CFEFF9120}"/>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dfc4a828c0149a3"/>
          <a:stretch xmlns:a="http://schemas.openxmlformats.org/drawingml/2006/main"/>
        </p:blipFill>
        <p:spPr>
          <a:xfrm xmlns:a="http://schemas.openxmlformats.org/drawingml/2006/main">
            <a:off x="2102189" y="1314450"/>
            <a:ext cx="7987622"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DAE4284-D86F-4CB9-AB70-4CC90441E82F}"/>
              </a:ext>
            </a:extLst>
          </p:cNvPr>
          <p:cNvSpPr>
            <a:spLocks xmlns:a="http://schemas.openxmlformats.org/drawingml/2006/main" noGrp="1"/>
          </p:cNvSpPr>
          <p:nvPr/>
        </p:nvSpPr>
        <p:spPr>
          <a:xfrm xmlns:a="http://schemas.openxmlformats.org/drawingml/2006/main">
            <a:off x="685800" y="60102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473"/>
                </a:solidFill>
                <a:latin typeface="Liberation Sans"/>
                <a:ea typeface="Liberation Sans"/>
                <a:cs typeface="Liberation Sans"/>
              </a:defRPr>
            </a:pPr>
            <a:r>
              <a:rPr sz="1875" b="0">
                <a:solidFill>
                  <a:srgbClr val="566473"/>
                </a:solidFill>
                <a:latin typeface="Liberation Sans"/>
                <a:ea typeface="Liberation Sans"/>
                <a:cs typeface="Liberation Sans"/>
              </a:rPr>
              <a:t>Add software through a form, then manage its overview, releases, guides and support.</a:t>
            </a:r>
          </a:p>
        </p:txBody>
      </p:sp>
    </p:spTree>
    <p:extLst>
      <p:ext uri="{BB962C8B-B14F-4D97-AF65-F5344CB8AC3E}">
        <p14:creationId xmlns:p14="http://schemas.microsoft.com/office/powerpoint/2010/main" val="7060955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20444D-8519-416E-8001-14FF16430AE6}"/>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New versions use the same workspace</a:t>
            </a:r>
          </a:p>
        </p:txBody>
      </p:sp>
      <p:sp>
        <p:nvSpPr>
          <p:cNvPr id="2" name="">
            <a:extLst xmlns:a="http://schemas.openxmlformats.org/drawingml/2006/main">
              <a:ext uri="{FF2B5EF4-FFF2-40B4-BE49-F238E27FC236}">
                <a16:creationId xmlns:a16="http://schemas.microsoft.com/office/drawing/2014/main" id="{DA8A6DE3-3FF5-4229-9E6E-31504C1F27C5}"/>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5A78D293-181E-48DB-8AA6-1143ABA356E9}"/>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9</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d5fbfaeb6614b17"/>
          <a:stretch xmlns:a="http://schemas.openxmlformats.org/drawingml/2006/main"/>
        </p:blipFill>
        <p:spPr>
          <a:xfrm xmlns:a="http://schemas.openxmlformats.org/drawingml/2006/main">
            <a:off x="2102189" y="1314450"/>
            <a:ext cx="7987622"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F41E1E7-A824-4966-BD6B-198B472A45C3}"/>
              </a:ext>
            </a:extLst>
          </p:cNvPr>
          <p:cNvSpPr>
            <a:spLocks xmlns:a="http://schemas.openxmlformats.org/drawingml/2006/main" noGrp="1"/>
          </p:cNvSpPr>
          <p:nvPr/>
        </p:nvSpPr>
        <p:spPr>
          <a:xfrm xmlns:a="http://schemas.openxmlformats.org/drawingml/2006/main">
            <a:off x="685800" y="60102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473"/>
                </a:solidFill>
                <a:latin typeface="Liberation Sans"/>
                <a:ea typeface="Liberation Sans"/>
                <a:cs typeface="Liberation Sans"/>
              </a:defRPr>
            </a:pPr>
            <a:r>
              <a:rPr sz="1875" b="0">
                <a:solidFill>
                  <a:srgbClr val="566473"/>
                </a:solidFill>
                <a:latin typeface="Liberation Sans"/>
                <a:ea typeface="Liberation Sans"/>
                <a:cs typeface="Liberation Sans"/>
              </a:rPr>
              <a:t>Add a release, select its approved source and choose the default download.</a:t>
            </a:r>
          </a:p>
        </p:txBody>
      </p:sp>
    </p:spTree>
    <p:extLst>
      <p:ext uri="{BB962C8B-B14F-4D97-AF65-F5344CB8AC3E}">
        <p14:creationId xmlns:p14="http://schemas.microsoft.com/office/powerpoint/2010/main" val="3222693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7C6630-C9E6-4D85-B86D-EC0A46942AB5}"/>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Guides are easier to write and keep current</a:t>
            </a:r>
          </a:p>
        </p:txBody>
      </p:sp>
      <p:sp>
        <p:nvSpPr>
          <p:cNvPr id="2" name="">
            <a:extLst xmlns:a="http://schemas.openxmlformats.org/drawingml/2006/main">
              <a:ext uri="{FF2B5EF4-FFF2-40B4-BE49-F238E27FC236}">
                <a16:creationId xmlns:a16="http://schemas.microsoft.com/office/drawing/2014/main" id="{4EB92F47-A66A-4788-80D5-A5B7AE4AAC39}"/>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20E685B1-1F94-4568-9050-F8573CEDE5D8}"/>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d054b69652945b0"/>
          <a:stretch xmlns:a="http://schemas.openxmlformats.org/drawingml/2006/main"/>
        </p:blipFill>
        <p:spPr>
          <a:xfrm xmlns:a="http://schemas.openxmlformats.org/drawingml/2006/main">
            <a:off x="2085266" y="1295400"/>
            <a:ext cx="8021468" cy="451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75B3BCD-A65E-4797-A6CF-588E8F5266F2}"/>
              </a:ext>
            </a:extLst>
          </p:cNvPr>
          <p:cNvSpPr>
            <a:spLocks xmlns:a="http://schemas.openxmlformats.org/drawingml/2006/main" noGrp="1"/>
          </p:cNvSpPr>
          <p:nvPr/>
        </p:nvSpPr>
        <p:spPr>
          <a:xfrm xmlns:a="http://schemas.openxmlformats.org/drawingml/2006/main">
            <a:off x="685800" y="60102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473"/>
                </a:solidFill>
                <a:latin typeface="Liberation Sans"/>
                <a:ea typeface="Liberation Sans"/>
                <a:cs typeface="Liberation Sans"/>
              </a:defRPr>
            </a:pPr>
            <a:r>
              <a:rPr sz="1875" b="0">
                <a:solidFill>
                  <a:srgbClr val="566473"/>
                </a:solidFill>
                <a:latin typeface="Liberation Sans"/>
                <a:ea typeface="Liberation Sans"/>
                <a:cs typeface="Liberation Sans"/>
              </a:rPr>
              <a:t>Edit the guide and check its preview before saving. System docs have a similar workspace.</a:t>
            </a:r>
          </a:p>
        </p:txBody>
      </p:sp>
    </p:spTree>
    <p:extLst>
      <p:ext uri="{BB962C8B-B14F-4D97-AF65-F5344CB8AC3E}">
        <p14:creationId xmlns:p14="http://schemas.microsoft.com/office/powerpoint/2010/main" val="12608360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619FAF-0BEE-4E28-8BE7-5D4B6BACF67A}"/>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A simple architecture for daily operation</a:t>
            </a:r>
          </a:p>
        </p:txBody>
      </p:sp>
      <p:sp>
        <p:nvSpPr>
          <p:cNvPr id="2" name="">
            <a:extLst xmlns:a="http://schemas.openxmlformats.org/drawingml/2006/main">
              <a:ext uri="{FF2B5EF4-FFF2-40B4-BE49-F238E27FC236}">
                <a16:creationId xmlns:a16="http://schemas.microsoft.com/office/drawing/2014/main" id="{42D714B2-08B3-4EEC-B363-97A4BE494AE4}"/>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2B4B6BF2-470C-4884-9BF6-9C8839FC73B5}"/>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11</a:t>
            </a:r>
          </a:p>
        </p:txBody>
      </p:sp>
      <p:sp>
        <p:nvSpPr>
          <p:cNvPr id="4" name="">
            <a:extLst xmlns:a="http://schemas.openxmlformats.org/drawingml/2006/main">
              <a:ext uri="{FF2B5EF4-FFF2-40B4-BE49-F238E27FC236}">
                <a16:creationId xmlns:a16="http://schemas.microsoft.com/office/drawing/2014/main" id="{19BD4AE6-4B03-4E60-9DB2-0C845BA94122}"/>
              </a:ext>
            </a:extLst>
          </p:cNvPr>
          <p:cNvSpPr>
            <a:spLocks xmlns:a="http://schemas.openxmlformats.org/drawingml/2006/main" noGrp="1"/>
          </p:cNvSpPr>
          <p:nvPr/>
        </p:nvSpPr>
        <p:spPr>
          <a:xfrm xmlns:a="http://schemas.openxmlformats.org/drawingml/2006/main">
            <a:off x="685800" y="2190750"/>
            <a:ext cx="2333625" cy="1952625"/>
          </a:xfrm>
          <a:prstGeom xmlns:a="http://schemas.openxmlformats.org/drawingml/2006/main" prst="rect">
            <a:avLst/>
          </a:prstGeom>
          <a:solidFill xmlns:a="http://schemas.openxmlformats.org/drawingml/2006/main">
            <a:srgbClr val="F5F7F9"/>
          </a:solidFill>
          <a:ln xmlns:a="http://schemas.openxmlformats.org/drawingml/2006/main" w="9525">
            <a:solidFill>
              <a:srgbClr val="C9D1D9"/>
            </a:solidFill>
          </a:ln>
        </p:spPr>
      </p:sp>
      <p:sp>
        <p:nvSpPr>
          <p:cNvPr id="5" name="">
            <a:extLst xmlns:a="http://schemas.openxmlformats.org/drawingml/2006/main">
              <a:ext uri="{FF2B5EF4-FFF2-40B4-BE49-F238E27FC236}">
                <a16:creationId xmlns:a16="http://schemas.microsoft.com/office/drawing/2014/main" id="{1CD3969C-E500-40ED-BA5F-D957CD4CE6DE}"/>
              </a:ext>
            </a:extLst>
          </p:cNvPr>
          <p:cNvSpPr>
            <a:spLocks xmlns:a="http://schemas.openxmlformats.org/drawingml/2006/main" noGrp="1"/>
          </p:cNvSpPr>
          <p:nvPr/>
        </p:nvSpPr>
        <p:spPr>
          <a:xfrm xmlns:a="http://schemas.openxmlformats.org/drawingml/2006/main">
            <a:off x="857250" y="2371725"/>
            <a:ext cx="1990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A3C"/>
                </a:solidFill>
                <a:latin typeface="Liberation Sans"/>
                <a:ea typeface="Liberation Sans"/>
                <a:cs typeface="Liberation Sans"/>
              </a:defRPr>
            </a:pPr>
            <a:r>
              <a:rPr sz="1950" b="1">
                <a:solidFill>
                  <a:srgbClr val="182A3C"/>
                </a:solidFill>
                <a:latin typeface="Liberation Sans"/>
                <a:ea typeface="Liberation Sans"/>
                <a:cs typeface="Liberation Sans"/>
              </a:rPr>
              <a:t>Developer Studio</a:t>
            </a:r>
          </a:p>
        </p:txBody>
      </p:sp>
      <p:sp>
        <p:nvSpPr>
          <p:cNvPr id="6" name="">
            <a:extLst xmlns:a="http://schemas.openxmlformats.org/drawingml/2006/main">
              <a:ext uri="{FF2B5EF4-FFF2-40B4-BE49-F238E27FC236}">
                <a16:creationId xmlns:a16="http://schemas.microsoft.com/office/drawing/2014/main" id="{75C4CF24-809C-4661-A1DC-3D7B5E6C8EFF}"/>
              </a:ext>
            </a:extLst>
          </p:cNvPr>
          <p:cNvSpPr>
            <a:spLocks xmlns:a="http://schemas.openxmlformats.org/drawingml/2006/main" noGrp="1"/>
          </p:cNvSpPr>
          <p:nvPr/>
        </p:nvSpPr>
        <p:spPr>
          <a:xfrm xmlns:a="http://schemas.openxmlformats.org/drawingml/2006/main">
            <a:off x="857250" y="3171825"/>
            <a:ext cx="19907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66473"/>
                </a:solidFill>
                <a:latin typeface="Liberation Sans"/>
                <a:ea typeface="Liberation Sans"/>
                <a:cs typeface="Liberation Sans"/>
              </a:defRPr>
            </a:pPr>
            <a:r>
              <a:rPr sz="1650" b="0">
                <a:solidFill>
                  <a:srgbClr val="566473"/>
                </a:solidFill>
                <a:latin typeface="Liberation Sans"/>
                <a:ea typeface="Liberation Sans"/>
                <a:cs typeface="Liberation Sans"/>
              </a:rPr>
              <a:t>Maintain structured</a:t>
            </a:r>
          </a:p>
          <a:p xmlns:a="http://schemas.openxmlformats.org/drawingml/2006/main">
            <a:pPr>
              <a:defRPr sz="1650" b="0">
                <a:solidFill>
                  <a:srgbClr val="566473"/>
                </a:solidFill>
                <a:latin typeface="Liberation Sans"/>
                <a:ea typeface="Liberation Sans"/>
                <a:cs typeface="Liberation Sans"/>
              </a:defRPr>
            </a:pPr>
            <a:r>
              <a:rPr sz="1650" b="0">
                <a:solidFill>
                  <a:srgbClr val="566473"/>
                </a:solidFill>
                <a:latin typeface="Liberation Sans"/>
                <a:ea typeface="Liberation Sans"/>
                <a:cs typeface="Liberation Sans"/>
              </a:rPr>
              <a:t>catalog content</a:t>
            </a:r>
          </a:p>
        </p:txBody>
      </p:sp>
      <p:sp>
        <p:nvSpPr>
          <p:cNvPr id="7" name="">
            <a:extLst xmlns:a="http://schemas.openxmlformats.org/drawingml/2006/main">
              <a:ext uri="{FF2B5EF4-FFF2-40B4-BE49-F238E27FC236}">
                <a16:creationId xmlns:a16="http://schemas.microsoft.com/office/drawing/2014/main" id="{7A6A0D1B-D15F-4199-B9F8-0877DC2C116C}"/>
              </a:ext>
            </a:extLst>
          </p:cNvPr>
          <p:cNvSpPr>
            <a:spLocks xmlns:a="http://schemas.openxmlformats.org/drawingml/2006/main" noGrp="1"/>
          </p:cNvSpPr>
          <p:nvPr/>
        </p:nvSpPr>
        <p:spPr>
          <a:xfrm xmlns:a="http://schemas.openxmlformats.org/drawingml/2006/main">
            <a:off x="3514725" y="2190750"/>
            <a:ext cx="2333625" cy="1952625"/>
          </a:xfrm>
          <a:prstGeom xmlns:a="http://schemas.openxmlformats.org/drawingml/2006/main" prst="rect">
            <a:avLst/>
          </a:prstGeom>
          <a:solidFill xmlns:a="http://schemas.openxmlformats.org/drawingml/2006/main">
            <a:srgbClr val="F5F7F9"/>
          </a:solidFill>
          <a:ln xmlns:a="http://schemas.openxmlformats.org/drawingml/2006/main" w="9525">
            <a:solidFill>
              <a:srgbClr val="C9D1D9"/>
            </a:solidFill>
          </a:ln>
        </p:spPr>
      </p:sp>
      <p:sp>
        <p:nvSpPr>
          <p:cNvPr id="8" name="">
            <a:extLst xmlns:a="http://schemas.openxmlformats.org/drawingml/2006/main">
              <a:ext uri="{FF2B5EF4-FFF2-40B4-BE49-F238E27FC236}">
                <a16:creationId xmlns:a16="http://schemas.microsoft.com/office/drawing/2014/main" id="{5C1F73D8-02EF-4CD5-AFFF-17EB0C3D159F}"/>
              </a:ext>
            </a:extLst>
          </p:cNvPr>
          <p:cNvSpPr>
            <a:spLocks xmlns:a="http://schemas.openxmlformats.org/drawingml/2006/main" noGrp="1"/>
          </p:cNvSpPr>
          <p:nvPr/>
        </p:nvSpPr>
        <p:spPr>
          <a:xfrm xmlns:a="http://schemas.openxmlformats.org/drawingml/2006/main">
            <a:off x="3686175" y="2371725"/>
            <a:ext cx="1990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A3C"/>
                </a:solidFill>
                <a:latin typeface="Liberation Sans"/>
                <a:ea typeface="Liberation Sans"/>
                <a:cs typeface="Liberation Sans"/>
              </a:defRPr>
            </a:pPr>
            <a:r>
              <a:rPr sz="1950" b="1">
                <a:solidFill>
                  <a:srgbClr val="182A3C"/>
                </a:solidFill>
                <a:latin typeface="Liberation Sans"/>
                <a:ea typeface="Liberation Sans"/>
                <a:cs typeface="Liberation Sans"/>
              </a:rPr>
              <a:t>Review and build</a:t>
            </a:r>
          </a:p>
        </p:txBody>
      </p:sp>
      <p:sp>
        <p:nvSpPr>
          <p:cNvPr id="9" name="">
            <a:extLst xmlns:a="http://schemas.openxmlformats.org/drawingml/2006/main">
              <a:ext uri="{FF2B5EF4-FFF2-40B4-BE49-F238E27FC236}">
                <a16:creationId xmlns:a16="http://schemas.microsoft.com/office/drawing/2014/main" id="{94AF5A2D-73EA-4E4A-ABB0-4041466F0ACB}"/>
              </a:ext>
            </a:extLst>
          </p:cNvPr>
          <p:cNvSpPr>
            <a:spLocks xmlns:a="http://schemas.openxmlformats.org/drawingml/2006/main" noGrp="1"/>
          </p:cNvSpPr>
          <p:nvPr/>
        </p:nvSpPr>
        <p:spPr>
          <a:xfrm xmlns:a="http://schemas.openxmlformats.org/drawingml/2006/main">
            <a:off x="3686175" y="3171825"/>
            <a:ext cx="19907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66473"/>
                </a:solidFill>
                <a:latin typeface="Liberation Sans"/>
                <a:ea typeface="Liberation Sans"/>
                <a:cs typeface="Liberation Sans"/>
              </a:defRPr>
            </a:pPr>
            <a:r>
              <a:rPr sz="1650" b="0">
                <a:solidFill>
                  <a:srgbClr val="566473"/>
                </a:solidFill>
                <a:latin typeface="Liberation Sans"/>
                <a:ea typeface="Liberation Sans"/>
                <a:cs typeface="Liberation Sans"/>
              </a:rPr>
              <a:t>Check changes and</a:t>
            </a:r>
          </a:p>
          <a:p xmlns:a="http://schemas.openxmlformats.org/drawingml/2006/main">
            <a:pPr>
              <a:defRPr sz="1650" b="0">
                <a:solidFill>
                  <a:srgbClr val="566473"/>
                </a:solidFill>
                <a:latin typeface="Liberation Sans"/>
                <a:ea typeface="Liberation Sans"/>
                <a:cs typeface="Liberation Sans"/>
              </a:defRPr>
            </a:pPr>
            <a:r>
              <a:rPr sz="1650" b="0">
                <a:solidFill>
                  <a:srgbClr val="566473"/>
                </a:solidFill>
                <a:latin typeface="Liberation Sans"/>
                <a:ea typeface="Liberation Sans"/>
                <a:cs typeface="Liberation Sans"/>
              </a:rPr>
              <a:t>create static files</a:t>
            </a:r>
          </a:p>
        </p:txBody>
      </p:sp>
      <p:sp>
        <p:nvSpPr>
          <p:cNvPr id="10" name="">
            <a:extLst xmlns:a="http://schemas.openxmlformats.org/drawingml/2006/main">
              <a:ext uri="{FF2B5EF4-FFF2-40B4-BE49-F238E27FC236}">
                <a16:creationId xmlns:a16="http://schemas.microsoft.com/office/drawing/2014/main" id="{381658B9-A53D-4584-94B8-73B52D0C6B2A}"/>
              </a:ext>
            </a:extLst>
          </p:cNvPr>
          <p:cNvSpPr>
            <a:spLocks xmlns:a="http://schemas.openxmlformats.org/drawingml/2006/main" noGrp="1"/>
          </p:cNvSpPr>
          <p:nvPr/>
        </p:nvSpPr>
        <p:spPr>
          <a:xfrm xmlns:a="http://schemas.openxmlformats.org/drawingml/2006/main">
            <a:off x="6343650" y="2190750"/>
            <a:ext cx="2333625" cy="1952625"/>
          </a:xfrm>
          <a:prstGeom xmlns:a="http://schemas.openxmlformats.org/drawingml/2006/main" prst="rect">
            <a:avLst/>
          </a:prstGeom>
          <a:solidFill xmlns:a="http://schemas.openxmlformats.org/drawingml/2006/main">
            <a:srgbClr val="F5F7F9"/>
          </a:solidFill>
          <a:ln xmlns:a="http://schemas.openxmlformats.org/drawingml/2006/main" w="9525">
            <a:solidFill>
              <a:srgbClr val="C9D1D9"/>
            </a:solidFill>
          </a:ln>
        </p:spPr>
      </p:sp>
      <p:sp>
        <p:nvSpPr>
          <p:cNvPr id="11" name="">
            <a:extLst xmlns:a="http://schemas.openxmlformats.org/drawingml/2006/main">
              <a:ext uri="{FF2B5EF4-FFF2-40B4-BE49-F238E27FC236}">
                <a16:creationId xmlns:a16="http://schemas.microsoft.com/office/drawing/2014/main" id="{07EC0BA9-9186-4981-B47D-6C24CD88DFC3}"/>
              </a:ext>
            </a:extLst>
          </p:cNvPr>
          <p:cNvSpPr>
            <a:spLocks xmlns:a="http://schemas.openxmlformats.org/drawingml/2006/main" noGrp="1"/>
          </p:cNvSpPr>
          <p:nvPr/>
        </p:nvSpPr>
        <p:spPr>
          <a:xfrm xmlns:a="http://schemas.openxmlformats.org/drawingml/2006/main">
            <a:off x="6515100" y="2371725"/>
            <a:ext cx="1990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A3C"/>
                </a:solidFill>
                <a:latin typeface="Liberation Sans"/>
                <a:ea typeface="Liberation Sans"/>
                <a:cs typeface="Liberation Sans"/>
              </a:defRPr>
            </a:pPr>
            <a:r>
              <a:rPr sz="1950" b="1">
                <a:solidFill>
                  <a:srgbClr val="182A3C"/>
                </a:solidFill>
                <a:latin typeface="Liberation Sans"/>
                <a:ea typeface="Liberation Sans"/>
                <a:cs typeface="Liberation Sans"/>
              </a:rPr>
              <a:t>On-premises host</a:t>
            </a:r>
          </a:p>
        </p:txBody>
      </p:sp>
      <p:sp>
        <p:nvSpPr>
          <p:cNvPr id="12" name="">
            <a:extLst xmlns:a="http://schemas.openxmlformats.org/drawingml/2006/main">
              <a:ext uri="{FF2B5EF4-FFF2-40B4-BE49-F238E27FC236}">
                <a16:creationId xmlns:a16="http://schemas.microsoft.com/office/drawing/2014/main" id="{4E690A17-7CBE-4C8C-93A6-2F2877E8C591}"/>
              </a:ext>
            </a:extLst>
          </p:cNvPr>
          <p:cNvSpPr>
            <a:spLocks xmlns:a="http://schemas.openxmlformats.org/drawingml/2006/main" noGrp="1"/>
          </p:cNvSpPr>
          <p:nvPr/>
        </p:nvSpPr>
        <p:spPr>
          <a:xfrm xmlns:a="http://schemas.openxmlformats.org/drawingml/2006/main">
            <a:off x="6515100" y="3171825"/>
            <a:ext cx="19907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66473"/>
                </a:solidFill>
                <a:latin typeface="Liberation Sans"/>
                <a:ea typeface="Liberation Sans"/>
                <a:cs typeface="Liberation Sans"/>
              </a:defRPr>
            </a:pPr>
            <a:r>
              <a:rPr sz="1650" b="0">
                <a:solidFill>
                  <a:srgbClr val="566473"/>
                </a:solidFill>
                <a:latin typeface="Liberation Sans"/>
                <a:ea typeface="Liberation Sans"/>
                <a:cs typeface="Liberation Sans"/>
              </a:rPr>
              <a:t>Serve the approved</a:t>
            </a:r>
          </a:p>
          <a:p xmlns:a="http://schemas.openxmlformats.org/drawingml/2006/main">
            <a:pPr>
              <a:defRPr sz="1650" b="0">
                <a:solidFill>
                  <a:srgbClr val="566473"/>
                </a:solidFill>
                <a:latin typeface="Liberation Sans"/>
                <a:ea typeface="Liberation Sans"/>
                <a:cs typeface="Liberation Sans"/>
              </a:defRPr>
            </a:pPr>
            <a:r>
              <a:rPr sz="1650" b="0">
                <a:solidFill>
                  <a:srgbClr val="566473"/>
                </a:solidFill>
                <a:latin typeface="Liberation Sans"/>
                <a:ea typeface="Liberation Sans"/>
                <a:cs typeface="Liberation Sans"/>
              </a:rPr>
              <a:t>website internally</a:t>
            </a:r>
          </a:p>
        </p:txBody>
      </p:sp>
      <p:sp>
        <p:nvSpPr>
          <p:cNvPr id="13" name="">
            <a:extLst xmlns:a="http://schemas.openxmlformats.org/drawingml/2006/main">
              <a:ext uri="{FF2B5EF4-FFF2-40B4-BE49-F238E27FC236}">
                <a16:creationId xmlns:a16="http://schemas.microsoft.com/office/drawing/2014/main" id="{B3602ACF-034D-499E-9C5D-B3A10AB51456}"/>
              </a:ext>
            </a:extLst>
          </p:cNvPr>
          <p:cNvSpPr>
            <a:spLocks xmlns:a="http://schemas.openxmlformats.org/drawingml/2006/main" noGrp="1"/>
          </p:cNvSpPr>
          <p:nvPr/>
        </p:nvSpPr>
        <p:spPr>
          <a:xfrm xmlns:a="http://schemas.openxmlformats.org/drawingml/2006/main">
            <a:off x="9172575" y="2190750"/>
            <a:ext cx="2333625" cy="1952625"/>
          </a:xfrm>
          <a:prstGeom xmlns:a="http://schemas.openxmlformats.org/drawingml/2006/main" prst="rect">
            <a:avLst/>
          </a:prstGeom>
          <a:solidFill xmlns:a="http://schemas.openxmlformats.org/drawingml/2006/main">
            <a:srgbClr val="F5F7F9"/>
          </a:solidFill>
          <a:ln xmlns:a="http://schemas.openxmlformats.org/drawingml/2006/main" w="9525">
            <a:solidFill>
              <a:srgbClr val="C9D1D9"/>
            </a:solidFill>
          </a:ln>
        </p:spPr>
      </p:sp>
      <p:sp>
        <p:nvSpPr>
          <p:cNvPr id="14" name="">
            <a:extLst xmlns:a="http://schemas.openxmlformats.org/drawingml/2006/main">
              <a:ext uri="{FF2B5EF4-FFF2-40B4-BE49-F238E27FC236}">
                <a16:creationId xmlns:a16="http://schemas.microsoft.com/office/drawing/2014/main" id="{5EBB3F81-44C6-48C8-BC6A-B560D55735B3}"/>
              </a:ext>
            </a:extLst>
          </p:cNvPr>
          <p:cNvSpPr>
            <a:spLocks xmlns:a="http://schemas.openxmlformats.org/drawingml/2006/main" noGrp="1"/>
          </p:cNvSpPr>
          <p:nvPr/>
        </p:nvSpPr>
        <p:spPr>
          <a:xfrm xmlns:a="http://schemas.openxmlformats.org/drawingml/2006/main">
            <a:off x="9344025" y="2371725"/>
            <a:ext cx="1990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A3C"/>
                </a:solidFill>
                <a:latin typeface="Liberation Sans"/>
                <a:ea typeface="Liberation Sans"/>
                <a:cs typeface="Liberation Sans"/>
              </a:defRPr>
            </a:pPr>
            <a:r>
              <a:rPr sz="1950" b="1">
                <a:solidFill>
                  <a:srgbClr val="182A3C"/>
                </a:solidFill>
                <a:latin typeface="Liberation Sans"/>
                <a:ea typeface="Liberation Sans"/>
                <a:cs typeface="Liberation Sans"/>
              </a:rPr>
              <a:t>Employee browser</a:t>
            </a:r>
          </a:p>
        </p:txBody>
      </p:sp>
      <p:sp>
        <p:nvSpPr>
          <p:cNvPr id="15" name="">
            <a:extLst xmlns:a="http://schemas.openxmlformats.org/drawingml/2006/main">
              <a:ext uri="{FF2B5EF4-FFF2-40B4-BE49-F238E27FC236}">
                <a16:creationId xmlns:a16="http://schemas.microsoft.com/office/drawing/2014/main" id="{8D298494-6B15-40BE-9646-0CD273027F1F}"/>
              </a:ext>
            </a:extLst>
          </p:cNvPr>
          <p:cNvSpPr>
            <a:spLocks xmlns:a="http://schemas.openxmlformats.org/drawingml/2006/main" noGrp="1"/>
          </p:cNvSpPr>
          <p:nvPr/>
        </p:nvSpPr>
        <p:spPr>
          <a:xfrm xmlns:a="http://schemas.openxmlformats.org/drawingml/2006/main">
            <a:off x="9344025" y="3171825"/>
            <a:ext cx="19907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66473"/>
                </a:solidFill>
                <a:latin typeface="Liberation Sans"/>
                <a:ea typeface="Liberation Sans"/>
                <a:cs typeface="Liberation Sans"/>
              </a:defRPr>
            </a:pPr>
            <a:r>
              <a:rPr sz="1650" b="0">
                <a:solidFill>
                  <a:srgbClr val="566473"/>
                </a:solidFill>
                <a:latin typeface="Liberation Sans"/>
                <a:ea typeface="Liberation Sans"/>
                <a:cs typeface="Liberation Sans"/>
              </a:rPr>
              <a:t>Search, read and</a:t>
            </a:r>
          </a:p>
          <a:p xmlns:a="http://schemas.openxmlformats.org/drawingml/2006/main">
            <a:pPr>
              <a:defRPr sz="1650" b="0">
                <a:solidFill>
                  <a:srgbClr val="566473"/>
                </a:solidFill>
                <a:latin typeface="Liberation Sans"/>
                <a:ea typeface="Liberation Sans"/>
                <a:cs typeface="Liberation Sans"/>
              </a:defRPr>
            </a:pPr>
            <a:r>
              <a:rPr sz="1650" b="0">
                <a:solidFill>
                  <a:srgbClr val="566473"/>
                </a:solidFill>
                <a:latin typeface="Liberation Sans"/>
                <a:ea typeface="Liberation Sans"/>
                <a:cs typeface="Liberation Sans"/>
              </a:rPr>
              <a:t>follow download links</a:t>
            </a:r>
          </a:p>
        </p:txBody>
      </p:sp>
      <p:cxnSp>
        <p:nvCxnSpPr>
          <p:cNvPr id="35" name=""/>
          <p:cNvCxnSpPr>
            <a:stCxn xmlns:a="http://schemas.openxmlformats.org/drawingml/2006/main" id="4" idx="3"/>
            <a:endCxn xmlns:a="http://schemas.openxmlformats.org/drawingml/2006/main" id="7" idx="1"/>
          </p:cNvCxnSpPr>
          <p:nvPr/>
        </p:nvCxnSpPr>
        <p:spPr>
          <a:xfrm xmlns:a="http://schemas.openxmlformats.org/drawingml/2006/main">
            <a:off x="3019425" y="3167063"/>
            <a:ext cx="495300" cy="0"/>
          </a:xfrm>
          <a:prstGeom xmlns:a="http://schemas.openxmlformats.org/drawingml/2006/main" prst="straightConnector1">
            <a:avLst/>
          </a:prstGeom>
          <a:ln xmlns:a="http://schemas.openxmlformats.org/drawingml/2006/main" w="19050">
            <a:solidFill>
              <a:srgbClr val="285E8A"/>
            </a:solidFill>
            <a:tailEnd type="triangle" w="sm" len="sm"/>
          </a:ln>
        </p:spPr>
      </p:cxnSp>
      <p:cxnSp>
        <p:nvCxnSpPr>
          <p:cNvPr id="36" name=""/>
          <p:cNvCxnSpPr>
            <a:stCxn xmlns:a="http://schemas.openxmlformats.org/drawingml/2006/main" id="7" idx="3"/>
            <a:endCxn xmlns:a="http://schemas.openxmlformats.org/drawingml/2006/main" id="10" idx="1"/>
          </p:cNvCxnSpPr>
          <p:nvPr/>
        </p:nvCxnSpPr>
        <p:spPr>
          <a:xfrm xmlns:a="http://schemas.openxmlformats.org/drawingml/2006/main">
            <a:off x="5848350" y="3167063"/>
            <a:ext cx="495300" cy="0"/>
          </a:xfrm>
          <a:prstGeom xmlns:a="http://schemas.openxmlformats.org/drawingml/2006/main" prst="straightConnector1">
            <a:avLst/>
          </a:prstGeom>
          <a:ln xmlns:a="http://schemas.openxmlformats.org/drawingml/2006/main" w="19050">
            <a:solidFill>
              <a:srgbClr val="285E8A"/>
            </a:solidFill>
            <a:tailEnd type="triangle" w="sm" len="sm"/>
          </a:ln>
        </p:spPr>
      </p:cxnSp>
      <p:cxnSp>
        <p:nvCxnSpPr>
          <p:cNvPr id="37" name=""/>
          <p:cNvCxnSpPr>
            <a:stCxn xmlns:a="http://schemas.openxmlformats.org/drawingml/2006/main" id="10" idx="3"/>
            <a:endCxn xmlns:a="http://schemas.openxmlformats.org/drawingml/2006/main" id="13" idx="1"/>
          </p:cNvCxnSpPr>
          <p:nvPr/>
        </p:nvCxnSpPr>
        <p:spPr>
          <a:xfrm xmlns:a="http://schemas.openxmlformats.org/drawingml/2006/main">
            <a:off x="8677275" y="3167063"/>
            <a:ext cx="495300" cy="0"/>
          </a:xfrm>
          <a:prstGeom xmlns:a="http://schemas.openxmlformats.org/drawingml/2006/main" prst="straightConnector1">
            <a:avLst/>
          </a:prstGeom>
          <a:ln xmlns:a="http://schemas.openxmlformats.org/drawingml/2006/main" w="19050">
            <a:solidFill>
              <a:srgbClr val="285E8A"/>
            </a:solidFill>
            <a:tailEnd type="triangle" w="sm" len="sm"/>
          </a:ln>
        </p:spPr>
      </p:cxnSp>
      <p:sp>
        <p:nvSpPr>
          <p:cNvPr id="19" name="">
            <a:extLst xmlns:a="http://schemas.openxmlformats.org/drawingml/2006/main">
              <a:ext uri="{FF2B5EF4-FFF2-40B4-BE49-F238E27FC236}">
                <a16:creationId xmlns:a16="http://schemas.microsoft.com/office/drawing/2014/main" id="{50E862F6-D4CC-4AA3-82A5-892E8DCB379D}"/>
              </a:ext>
            </a:extLst>
          </p:cNvPr>
          <p:cNvSpPr>
            <a:spLocks xmlns:a="http://schemas.openxmlformats.org/drawingml/2006/main" noGrp="1"/>
          </p:cNvSpPr>
          <p:nvPr/>
        </p:nvSpPr>
        <p:spPr>
          <a:xfrm xmlns:a="http://schemas.openxmlformats.org/drawingml/2006/main">
            <a:off x="781050" y="4667250"/>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2000"/>
              </a:spcAft>
              <a:buChar char="•"/>
              <a:defRPr sz="2100" b="0">
                <a:solidFill>
                  <a:srgbClr val="182A3C"/>
                </a:solidFill>
                <a:latin typeface="Liberation Sans"/>
                <a:ea typeface="Liberation Sans"/>
                <a:cs typeface="Liberation Sans"/>
              </a:defRPr>
            </a:pPr>
            <a:r>
              <a:t>The published catalog has no application database or editing API.</a:t>
            </a:r>
          </a:p>
          <a:p xmlns:a="http://schemas.openxmlformats.org/drawingml/2006/main">
            <a:pPr marL="266700" indent="-139700">
              <a:spcAft>
                <a:spcPts val="2000"/>
              </a:spcAft>
              <a:buChar char="•"/>
              <a:defRPr sz="2100" b="0">
                <a:solidFill>
                  <a:srgbClr val="182A3C"/>
                </a:solidFill>
                <a:latin typeface="Liberation Sans"/>
                <a:ea typeface="Liberation Sans"/>
                <a:cs typeface="Liberation Sans"/>
              </a:defRPr>
            </a:pPr>
            <a:r>
              <a:t>Developer Studio remains a separate, protected local authoring tool.</a:t>
            </a:r>
          </a:p>
        </p:txBody>
      </p:sp>
    </p:spTree>
    <p:extLst>
      <p:ext uri="{BB962C8B-B14F-4D97-AF65-F5344CB8AC3E}">
        <p14:creationId xmlns:p14="http://schemas.microsoft.com/office/powerpoint/2010/main" val="4531575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931B6E-1B71-4BDA-A16E-4F6CF70AB51D}"/>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Flexible to improve as needs change</a:t>
            </a:r>
          </a:p>
        </p:txBody>
      </p:sp>
      <p:sp>
        <p:nvSpPr>
          <p:cNvPr id="2" name="">
            <a:extLst xmlns:a="http://schemas.openxmlformats.org/drawingml/2006/main">
              <a:ext uri="{FF2B5EF4-FFF2-40B4-BE49-F238E27FC236}">
                <a16:creationId xmlns:a16="http://schemas.microsoft.com/office/drawing/2014/main" id="{F7D9098C-AB66-43D8-A8E9-81F5E7518B28}"/>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1D43A449-BB40-4ED5-9110-5A9B9F0119E6}"/>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12</a:t>
            </a:r>
          </a:p>
        </p:txBody>
      </p:sp>
      <p:sp>
        <p:nvSpPr>
          <p:cNvPr id="4" name="">
            <a:extLst xmlns:a="http://schemas.openxmlformats.org/drawingml/2006/main">
              <a:ext uri="{FF2B5EF4-FFF2-40B4-BE49-F238E27FC236}">
                <a16:creationId xmlns:a16="http://schemas.microsoft.com/office/drawing/2014/main" id="{A3740C0D-89B1-4F4D-ABED-0D252FC5BF14}"/>
              </a:ext>
            </a:extLst>
          </p:cNvPr>
          <p:cNvSpPr>
            <a:spLocks xmlns:a="http://schemas.openxmlformats.org/drawingml/2006/main" noGrp="1"/>
          </p:cNvSpPr>
          <p:nvPr/>
        </p:nvSpPr>
        <p:spPr>
          <a:xfrm xmlns:a="http://schemas.openxmlformats.org/drawingml/2006/main">
            <a:off x="781050" y="1543050"/>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2300"/>
              </a:spcAft>
              <a:buChar char="•"/>
              <a:defRPr sz="2400" b="0">
                <a:solidFill>
                  <a:srgbClr val="182A3C"/>
                </a:solidFill>
                <a:latin typeface="Liberation Sans"/>
                <a:ea typeface="Liberation Sans"/>
                <a:cs typeface="Liberation Sans"/>
              </a:defRPr>
            </a:pPr>
            <a:r>
              <a:t>Built with the help of ChatGPT, with the source under team control.</a:t>
            </a:r>
          </a:p>
          <a:p xmlns:a="http://schemas.openxmlformats.org/drawingml/2006/main">
            <a:pPr marL="266700" indent="-139700">
              <a:spcAft>
                <a:spcPts val="2300"/>
              </a:spcAft>
              <a:buChar char="•"/>
              <a:defRPr sz="2400" b="0">
                <a:solidFill>
                  <a:srgbClr val="182A3C"/>
                </a:solidFill>
                <a:latin typeface="Liberation Sans"/>
                <a:ea typeface="Liberation Sans"/>
                <a:cs typeface="Liberation Sans"/>
              </a:defRPr>
            </a:pPr>
            <a:r>
              <a:t>Routine software and documentation changes use Developer Studio.</a:t>
            </a:r>
          </a:p>
          <a:p xmlns:a="http://schemas.openxmlformats.org/drawingml/2006/main">
            <a:pPr marL="266700" indent="-139700">
              <a:spcAft>
                <a:spcPts val="2300"/>
              </a:spcAft>
              <a:buChar char="•"/>
              <a:defRPr sz="2400" b="0">
                <a:solidFill>
                  <a:srgbClr val="182A3C"/>
                </a:solidFill>
                <a:latin typeface="Liberation Sans"/>
                <a:ea typeface="Liberation Sans"/>
                <a:cs typeface="Liberation Sans"/>
              </a:defRPr>
            </a:pPr>
            <a:r>
              <a:t>Modular pages and structured content support focused improvements.</a:t>
            </a:r>
          </a:p>
          <a:p xmlns:a="http://schemas.openxmlformats.org/drawingml/2006/main">
            <a:pPr marL="266700" indent="-139700">
              <a:spcAft>
                <a:spcPts val="2300"/>
              </a:spcAft>
              <a:buChar char="•"/>
              <a:defRPr sz="2400" b="0">
                <a:solidFill>
                  <a:srgbClr val="182A3C"/>
                </a:solidFill>
                <a:latin typeface="Liberation Sans"/>
                <a:ea typeface="Liberation Sans"/>
                <a:cs typeface="Liberation Sans"/>
              </a:defRPr>
            </a:pPr>
            <a:r>
              <a:t>Small changes can move through a short edit, review and test cycle.</a:t>
            </a:r>
          </a:p>
        </p:txBody>
      </p:sp>
      <p:sp>
        <p:nvSpPr>
          <p:cNvPr id="5" name="">
            <a:extLst xmlns:a="http://schemas.openxmlformats.org/drawingml/2006/main">
              <a:ext uri="{FF2B5EF4-FFF2-40B4-BE49-F238E27FC236}">
                <a16:creationId xmlns:a16="http://schemas.microsoft.com/office/drawing/2014/main" id="{F0D18D17-7CA2-478C-8DC2-36B1DC88FAF7}"/>
              </a:ext>
            </a:extLst>
          </p:cNvPr>
          <p:cNvSpPr>
            <a:spLocks xmlns:a="http://schemas.openxmlformats.org/drawingml/2006/main" noGrp="1"/>
          </p:cNvSpPr>
          <p:nvPr/>
        </p:nvSpPr>
        <p:spPr>
          <a:xfrm xmlns:a="http://schemas.openxmlformats.org/drawingml/2006/main">
            <a:off x="685800" y="58578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85E8A"/>
                </a:solidFill>
                <a:latin typeface="Liberation Sans"/>
                <a:ea typeface="Liberation Sans"/>
                <a:cs typeface="Liberation Sans"/>
              </a:defRPr>
            </a:pPr>
            <a:r>
              <a:rPr sz="2175" b="1">
                <a:solidFill>
                  <a:srgbClr val="285E8A"/>
                </a:solidFill>
                <a:latin typeface="Liberation Sans"/>
                <a:ea typeface="Liberation Sans"/>
                <a:cs typeface="Liberation Sans"/>
              </a:rPr>
              <a:t>ChatGPT supports development. The deployed catalog runs independently.</a:t>
            </a:r>
          </a:p>
        </p:txBody>
      </p:sp>
    </p:spTree>
    <p:extLst>
      <p:ext uri="{BB962C8B-B14F-4D97-AF65-F5344CB8AC3E}">
        <p14:creationId xmlns:p14="http://schemas.microsoft.com/office/powerpoint/2010/main" val="14692956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25906F-C248-4A2B-A043-59F434BFE242}"/>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Flexible deployment, limited runtime complexity</a:t>
            </a:r>
          </a:p>
        </p:txBody>
      </p:sp>
      <p:sp>
        <p:nvSpPr>
          <p:cNvPr id="2" name="">
            <a:extLst xmlns:a="http://schemas.openxmlformats.org/drawingml/2006/main">
              <a:ext uri="{FF2B5EF4-FFF2-40B4-BE49-F238E27FC236}">
                <a16:creationId xmlns:a16="http://schemas.microsoft.com/office/drawing/2014/main" id="{6CECFB89-448F-4C0D-98F1-8B926FCF483E}"/>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A5F579DD-222C-49DF-A54B-15C4573C4C60}"/>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13</a:t>
            </a:r>
          </a:p>
        </p:txBody>
      </p:sp>
      <p:sp>
        <p:nvSpPr>
          <p:cNvPr id="4" name="">
            <a:extLst xmlns:a="http://schemas.openxmlformats.org/drawingml/2006/main">
              <a:ext uri="{FF2B5EF4-FFF2-40B4-BE49-F238E27FC236}">
                <a16:creationId xmlns:a16="http://schemas.microsoft.com/office/drawing/2014/main" id="{E5DDC6F6-F789-4D00-B758-5277A17A2E81}"/>
              </a:ext>
            </a:extLst>
          </p:cNvPr>
          <p:cNvSpPr>
            <a:spLocks xmlns:a="http://schemas.openxmlformats.org/drawingml/2006/main" noGrp="1"/>
          </p:cNvSpPr>
          <p:nvPr/>
        </p:nvSpPr>
        <p:spPr>
          <a:xfrm xmlns:a="http://schemas.openxmlformats.org/drawingml/2006/main">
            <a:off x="781050" y="1533525"/>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2400"/>
              </a:spcAft>
              <a:buChar char="•"/>
              <a:defRPr sz="2400" b="0">
                <a:solidFill>
                  <a:srgbClr val="182A3C"/>
                </a:solidFill>
                <a:latin typeface="Liberation Sans"/>
                <a:ea typeface="Liberation Sans"/>
                <a:cs typeface="Liberation Sans"/>
              </a:defRPr>
            </a:pPr>
            <a:r>
              <a:t>On-premises deployment on Windows IIS or a Linux container host.</a:t>
            </a:r>
          </a:p>
          <a:p xmlns:a="http://schemas.openxmlformats.org/drawingml/2006/main">
            <a:pPr marL="266700" indent="-139700">
              <a:spcAft>
                <a:spcPts val="2400"/>
              </a:spcAft>
              <a:buChar char="•"/>
              <a:defRPr sz="2400" b="0">
                <a:solidFill>
                  <a:srgbClr val="182A3C"/>
                </a:solidFill>
                <a:latin typeface="Liberation Sans"/>
                <a:ea typeface="Liberation Sans"/>
                <a:cs typeface="Liberation Sans"/>
              </a:defRPr>
            </a:pPr>
            <a:r>
              <a:t>Static catalog delivery without an application login or database.</a:t>
            </a:r>
          </a:p>
          <a:p xmlns:a="http://schemas.openxmlformats.org/drawingml/2006/main">
            <a:pPr marL="266700" indent="-139700">
              <a:spcAft>
                <a:spcPts val="2400"/>
              </a:spcAft>
              <a:buChar char="•"/>
              <a:defRPr sz="2400" b="0">
                <a:solidFill>
                  <a:srgbClr val="182A3C"/>
                </a:solidFill>
                <a:latin typeface="Liberation Sans"/>
                <a:ea typeface="Liberation Sans"/>
                <a:cs typeface="Liberation Sans"/>
              </a:defRPr>
            </a:pPr>
            <a:r>
              <a:t>Local authoring access stays protected in Developer Studio.</a:t>
            </a:r>
          </a:p>
          <a:p xmlns:a="http://schemas.openxmlformats.org/drawingml/2006/main">
            <a:pPr marL="266700" indent="-139700">
              <a:spcAft>
                <a:spcPts val="2400"/>
              </a:spcAft>
              <a:buChar char="•"/>
              <a:defRPr sz="2400" b="0">
                <a:solidFill>
                  <a:srgbClr val="182A3C"/>
                </a:solidFill>
                <a:latin typeface="Liberation Sans"/>
                <a:ea typeface="Liberation Sans"/>
                <a:cs typeface="Liberation Sans"/>
              </a:defRPr>
            </a:pPr>
            <a:r>
              <a:t>Security reviews: Artifactory and ChatGPT Daybreak Blue.</a:t>
            </a:r>
          </a:p>
        </p:txBody>
      </p:sp>
      <p:sp>
        <p:nvSpPr>
          <p:cNvPr id="5" name="">
            <a:extLst xmlns:a="http://schemas.openxmlformats.org/drawingml/2006/main">
              <a:ext uri="{FF2B5EF4-FFF2-40B4-BE49-F238E27FC236}">
                <a16:creationId xmlns:a16="http://schemas.microsoft.com/office/drawing/2014/main" id="{CFF71F00-304D-4AA5-A02F-FFAC7D65DE08}"/>
              </a:ext>
            </a:extLst>
          </p:cNvPr>
          <p:cNvSpPr>
            <a:spLocks xmlns:a="http://schemas.openxmlformats.org/drawingml/2006/main" noGrp="1"/>
          </p:cNvSpPr>
          <p:nvPr/>
        </p:nvSpPr>
        <p:spPr>
          <a:xfrm xmlns:a="http://schemas.openxmlformats.org/drawingml/2006/main">
            <a:off x="685800" y="58578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66473"/>
                </a:solidFill>
                <a:latin typeface="Liberation Sans"/>
                <a:ea typeface="Liberation Sans"/>
                <a:cs typeface="Liberation Sans"/>
              </a:defRPr>
            </a:pPr>
            <a:r>
              <a:rPr sz="2025" b="0">
                <a:solidFill>
                  <a:srgbClr val="566473"/>
                </a:solidFill>
                <a:latin typeface="Liberation Sans"/>
                <a:ea typeface="Liberation Sans"/>
                <a:cs typeface="Liberation Sans"/>
              </a:rPr>
              <a:t>Routine host, web-server and dependency maintenance still applies.</a:t>
            </a:r>
          </a:p>
        </p:txBody>
      </p:sp>
    </p:spTree>
    <p:extLst>
      <p:ext uri="{BB962C8B-B14F-4D97-AF65-F5344CB8AC3E}">
        <p14:creationId xmlns:p14="http://schemas.microsoft.com/office/powerpoint/2010/main" val="9811110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3D62D0-3D5A-4C3A-9962-B1D7F44C5F5F}"/>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Keeping the catalog useful over time</a:t>
            </a:r>
          </a:p>
        </p:txBody>
      </p:sp>
      <p:sp>
        <p:nvSpPr>
          <p:cNvPr id="2" name="">
            <a:extLst xmlns:a="http://schemas.openxmlformats.org/drawingml/2006/main">
              <a:ext uri="{FF2B5EF4-FFF2-40B4-BE49-F238E27FC236}">
                <a16:creationId xmlns:a16="http://schemas.microsoft.com/office/drawing/2014/main" id="{BD1B650B-42E9-483F-AA83-6E24F32C3494}"/>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8BFBE98A-4AD1-489C-90BA-C17B0BC6A476}"/>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14</a:t>
            </a:r>
          </a:p>
        </p:txBody>
      </p:sp>
      <p:sp>
        <p:nvSpPr>
          <p:cNvPr id="4" name="">
            <a:extLst xmlns:a="http://schemas.openxmlformats.org/drawingml/2006/main">
              <a:ext uri="{FF2B5EF4-FFF2-40B4-BE49-F238E27FC236}">
                <a16:creationId xmlns:a16="http://schemas.microsoft.com/office/drawing/2014/main" id="{75E82F7A-80D1-4913-AED4-78C08C8F31FA}"/>
              </a:ext>
            </a:extLst>
          </p:cNvPr>
          <p:cNvSpPr>
            <a:spLocks xmlns:a="http://schemas.openxmlformats.org/drawingml/2006/main" noGrp="1"/>
          </p:cNvSpPr>
          <p:nvPr/>
        </p:nvSpPr>
        <p:spPr>
          <a:xfrm xmlns:a="http://schemas.openxmlformats.org/drawingml/2006/main">
            <a:off x="781050" y="1571625"/>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2500"/>
              </a:spcAft>
              <a:buChar char="•"/>
              <a:defRPr sz="2400" b="0">
                <a:solidFill>
                  <a:srgbClr val="182A3C"/>
                </a:solidFill>
                <a:latin typeface="Liberation Sans"/>
                <a:ea typeface="Liberation Sans"/>
                <a:cs typeface="Liberation Sans"/>
              </a:defRPr>
            </a:pPr>
            <a:r>
              <a:t>A catalog owner maintains structure and reviews incoming requests.</a:t>
            </a:r>
          </a:p>
          <a:p xmlns:a="http://schemas.openxmlformats.org/drawingml/2006/main">
            <a:pPr marL="266700" indent="-139700">
              <a:spcAft>
                <a:spcPts val="2500"/>
              </a:spcAft>
              <a:buChar char="•"/>
              <a:defRPr sz="2400" b="0">
                <a:solidFill>
                  <a:srgbClr val="182A3C"/>
                </a:solidFill>
                <a:latin typeface="Liberation Sans"/>
                <a:ea typeface="Liberation Sans"/>
                <a:cs typeface="Liberation Sans"/>
              </a:defRPr>
            </a:pPr>
            <a:r>
              <a:t>Tool owners keep releases, guides and support contacts accurate.</a:t>
            </a:r>
          </a:p>
          <a:p xmlns:a="http://schemas.openxmlformats.org/drawingml/2006/main">
            <a:pPr marL="266700" indent="-139700">
              <a:spcAft>
                <a:spcPts val="2500"/>
              </a:spcAft>
              <a:buChar char="•"/>
              <a:defRPr sz="2400" b="0">
                <a:solidFill>
                  <a:srgbClr val="182A3C"/>
                </a:solidFill>
                <a:latin typeface="Liberation Sans"/>
                <a:ea typeface="Liberation Sans"/>
                <a:cs typeface="Liberation Sans"/>
              </a:defRPr>
            </a:pPr>
            <a:r>
              <a:t>Developer Studio makes those recurring changes easier to complete.</a:t>
            </a:r>
          </a:p>
          <a:p xmlns:a="http://schemas.openxmlformats.org/drawingml/2006/main">
            <a:pPr marL="266700" indent="-139700">
              <a:spcAft>
                <a:spcPts val="2500"/>
              </a:spcAft>
              <a:buChar char="•"/>
              <a:defRPr sz="2400" b="0">
                <a:solidFill>
                  <a:srgbClr val="182A3C"/>
                </a:solidFill>
                <a:latin typeface="Liberation Sans"/>
                <a:ea typeface="Liberation Sans"/>
                <a:cs typeface="Liberation Sans"/>
              </a:defRPr>
            </a:pPr>
            <a:r>
              <a:t>Versioned changes and documented deployment support recovery.</a:t>
            </a:r>
          </a:p>
        </p:txBody>
      </p:sp>
      <p:sp>
        <p:nvSpPr>
          <p:cNvPr id="5" name="">
            <a:extLst xmlns:a="http://schemas.openxmlformats.org/drawingml/2006/main">
              <a:ext uri="{FF2B5EF4-FFF2-40B4-BE49-F238E27FC236}">
                <a16:creationId xmlns:a16="http://schemas.microsoft.com/office/drawing/2014/main" id="{4301976B-3F36-45E9-A9C3-CDD68E6996BA}"/>
              </a:ext>
            </a:extLst>
          </p:cNvPr>
          <p:cNvSpPr>
            <a:spLocks xmlns:a="http://schemas.openxmlformats.org/drawingml/2006/main" noGrp="1"/>
          </p:cNvSpPr>
          <p:nvPr/>
        </p:nvSpPr>
        <p:spPr>
          <a:xfrm xmlns:a="http://schemas.openxmlformats.org/drawingml/2006/main">
            <a:off x="685800" y="58578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85E8A"/>
                </a:solidFill>
                <a:latin typeface="Liberation Sans"/>
                <a:ea typeface="Liberation Sans"/>
                <a:cs typeface="Liberation Sans"/>
              </a:defRPr>
            </a:pPr>
            <a:r>
              <a:rPr sz="2175" b="1">
                <a:solidFill>
                  <a:srgbClr val="285E8A"/>
                </a:solidFill>
                <a:latin typeface="Liberation Sans"/>
                <a:ea typeface="Liberation Sans"/>
                <a:cs typeface="Liberation Sans"/>
              </a:rPr>
              <a:t>A usable editing workflow makes long-term ownership more practical.</a:t>
            </a:r>
          </a:p>
        </p:txBody>
      </p:sp>
    </p:spTree>
    <p:extLst>
      <p:ext uri="{BB962C8B-B14F-4D97-AF65-F5344CB8AC3E}">
        <p14:creationId xmlns:p14="http://schemas.microsoft.com/office/powerpoint/2010/main" val="15290747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1B9313-2F8B-4A18-95B2-8B05A60F9155}"/>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The value of approving Tool Atlas</a:t>
            </a:r>
          </a:p>
        </p:txBody>
      </p:sp>
      <p:sp>
        <p:nvSpPr>
          <p:cNvPr id="2" name="">
            <a:extLst xmlns:a="http://schemas.openxmlformats.org/drawingml/2006/main">
              <a:ext uri="{FF2B5EF4-FFF2-40B4-BE49-F238E27FC236}">
                <a16:creationId xmlns:a16="http://schemas.microsoft.com/office/drawing/2014/main" id="{30B8D569-FC21-46A6-B168-F57420445D63}"/>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8628F86C-1434-40A3-8887-3D835C0636DC}"/>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15</a:t>
            </a:r>
          </a:p>
        </p:txBody>
      </p:sp>
      <p:sp>
        <p:nvSpPr>
          <p:cNvPr id="4" name="">
            <a:extLst xmlns:a="http://schemas.openxmlformats.org/drawingml/2006/main">
              <a:ext uri="{FF2B5EF4-FFF2-40B4-BE49-F238E27FC236}">
                <a16:creationId xmlns:a16="http://schemas.microsoft.com/office/drawing/2014/main" id="{CC9A9003-6647-43D7-B1AA-013356CBB2EC}"/>
              </a:ext>
            </a:extLst>
          </p:cNvPr>
          <p:cNvSpPr>
            <a:spLocks xmlns:a="http://schemas.openxmlformats.org/drawingml/2006/main" noGrp="1"/>
          </p:cNvSpPr>
          <p:nvPr/>
        </p:nvSpPr>
        <p:spPr>
          <a:xfrm xmlns:a="http://schemas.openxmlformats.org/drawingml/2006/main">
            <a:off x="781050" y="1571625"/>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2500"/>
              </a:spcAft>
              <a:buChar char="•"/>
              <a:defRPr sz="2400" b="0">
                <a:solidFill>
                  <a:srgbClr val="182A3C"/>
                </a:solidFill>
                <a:latin typeface="Liberation Sans"/>
                <a:ea typeface="Liberation Sans"/>
                <a:cs typeface="Liberation Sans"/>
              </a:defRPr>
            </a:pPr>
            <a:r>
              <a:t>Less searching for software, instructions and the right support team.</a:t>
            </a:r>
          </a:p>
          <a:p xmlns:a="http://schemas.openxmlformats.org/drawingml/2006/main">
            <a:pPr marL="266700" indent="-139700">
              <a:spcAft>
                <a:spcPts val="2500"/>
              </a:spcAft>
              <a:buChar char="•"/>
              <a:defRPr sz="2400" b="0">
                <a:solidFill>
                  <a:srgbClr val="182A3C"/>
                </a:solidFill>
                <a:latin typeface="Liberation Sans"/>
                <a:ea typeface="Liberation Sans"/>
                <a:cs typeface="Liberation Sans"/>
              </a:defRPr>
            </a:pPr>
            <a:r>
              <a:t>A clearer view of approved versions and legacy tools.</a:t>
            </a:r>
          </a:p>
          <a:p xmlns:a="http://schemas.openxmlformats.org/drawingml/2006/main">
            <a:pPr marL="266700" indent="-139700">
              <a:spcAft>
                <a:spcPts val="2500"/>
              </a:spcAft>
              <a:buChar char="•"/>
              <a:defRPr sz="2400" b="0">
                <a:solidFill>
                  <a:srgbClr val="182A3C"/>
                </a:solidFill>
                <a:latin typeface="Liberation Sans"/>
                <a:ea typeface="Liberation Sans"/>
                <a:cs typeface="Liberation Sans"/>
              </a:defRPr>
            </a:pPr>
            <a:r>
              <a:t>Simpler maintenance through a dedicated authoring interface.</a:t>
            </a:r>
          </a:p>
          <a:p xmlns:a="http://schemas.openxmlformats.org/drawingml/2006/main">
            <a:pPr marL="266700" indent="-139700">
              <a:spcAft>
                <a:spcPts val="2500"/>
              </a:spcAft>
              <a:buChar char="•"/>
              <a:defRPr sz="2400" b="0">
                <a:solidFill>
                  <a:srgbClr val="182A3C"/>
                </a:solidFill>
                <a:latin typeface="Liberation Sans"/>
                <a:ea typeface="Liberation Sans"/>
                <a:cs typeface="Liberation Sans"/>
              </a:defRPr>
            </a:pPr>
            <a:r>
              <a:t>A flexible foundation that the team can continue improving.</a:t>
            </a:r>
          </a:p>
        </p:txBody>
      </p:sp>
      <p:sp>
        <p:nvSpPr>
          <p:cNvPr id="5" name="">
            <a:extLst xmlns:a="http://schemas.openxmlformats.org/drawingml/2006/main">
              <a:ext uri="{FF2B5EF4-FFF2-40B4-BE49-F238E27FC236}">
                <a16:creationId xmlns:a16="http://schemas.microsoft.com/office/drawing/2014/main" id="{C1698E8C-D9CD-4A7C-8353-A40EF1B6CF5E}"/>
              </a:ext>
            </a:extLst>
          </p:cNvPr>
          <p:cNvSpPr>
            <a:spLocks xmlns:a="http://schemas.openxmlformats.org/drawingml/2006/main" noGrp="1"/>
          </p:cNvSpPr>
          <p:nvPr/>
        </p:nvSpPr>
        <p:spPr>
          <a:xfrm xmlns:a="http://schemas.openxmlformats.org/drawingml/2006/main">
            <a:off x="685800" y="58578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85E8A"/>
                </a:solidFill>
                <a:latin typeface="Liberation Sans"/>
                <a:ea typeface="Liberation Sans"/>
                <a:cs typeface="Liberation Sans"/>
              </a:defRPr>
            </a:pPr>
            <a:r>
              <a:rPr sz="2100" b="1">
                <a:solidFill>
                  <a:srgbClr val="285E8A"/>
                </a:solidFill>
                <a:latin typeface="Liberation Sans"/>
                <a:ea typeface="Liberation Sans"/>
                <a:cs typeface="Liberation Sans"/>
              </a:rPr>
              <a:t>The pilot can confirm the benefits with real users and real maintenance tasks.</a:t>
            </a:r>
          </a:p>
        </p:txBody>
      </p:sp>
    </p:spTree>
    <p:extLst>
      <p:ext uri="{BB962C8B-B14F-4D97-AF65-F5344CB8AC3E}">
        <p14:creationId xmlns:p14="http://schemas.microsoft.com/office/powerpoint/2010/main" val="15258599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A6D760-BBB5-4809-BDF6-E57C17336351}"/>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Proposed next step</a:t>
            </a:r>
          </a:p>
        </p:txBody>
      </p:sp>
      <p:sp>
        <p:nvSpPr>
          <p:cNvPr id="2" name="">
            <a:extLst xmlns:a="http://schemas.openxmlformats.org/drawingml/2006/main">
              <a:ext uri="{FF2B5EF4-FFF2-40B4-BE49-F238E27FC236}">
                <a16:creationId xmlns:a16="http://schemas.microsoft.com/office/drawing/2014/main" id="{AA497030-496A-430D-8966-95E98AA9F3BE}"/>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A8A4C3B9-1BBC-4C6C-A22D-C04F92CA74AB}"/>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16</a:t>
            </a:r>
          </a:p>
        </p:txBody>
      </p:sp>
      <p:sp>
        <p:nvSpPr>
          <p:cNvPr id="4" name="">
            <a:extLst xmlns:a="http://schemas.openxmlformats.org/drawingml/2006/main">
              <a:ext uri="{FF2B5EF4-FFF2-40B4-BE49-F238E27FC236}">
                <a16:creationId xmlns:a16="http://schemas.microsoft.com/office/drawing/2014/main" id="{78A6E8AB-A12E-4626-80E4-7EBE75DB721B}"/>
              </a:ext>
            </a:extLst>
          </p:cNvPr>
          <p:cNvSpPr>
            <a:spLocks xmlns:a="http://schemas.openxmlformats.org/drawingml/2006/main" noGrp="1"/>
          </p:cNvSpPr>
          <p:nvPr/>
        </p:nvSpPr>
        <p:spPr>
          <a:xfrm xmlns:a="http://schemas.openxmlformats.org/drawingml/2006/main">
            <a:off x="685800" y="1524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285E8A"/>
                </a:solidFill>
                <a:latin typeface="Liberation Sans"/>
                <a:ea typeface="Liberation Sans"/>
                <a:cs typeface="Liberation Sans"/>
              </a:defRPr>
            </a:pPr>
            <a:r>
              <a:rPr sz="2925" b="1">
                <a:solidFill>
                  <a:srgbClr val="285E8A"/>
                </a:solidFill>
                <a:latin typeface="Liberation Sans"/>
                <a:ea typeface="Liberation Sans"/>
                <a:cs typeface="Liberation Sans"/>
              </a:rPr>
              <a:t>Approve a controlled rollout of Tool Atlas 1.6.0</a:t>
            </a:r>
          </a:p>
        </p:txBody>
      </p:sp>
      <p:sp>
        <p:nvSpPr>
          <p:cNvPr id="5" name="">
            <a:extLst xmlns:a="http://schemas.openxmlformats.org/drawingml/2006/main">
              <a:ext uri="{FF2B5EF4-FFF2-40B4-BE49-F238E27FC236}">
                <a16:creationId xmlns:a16="http://schemas.microsoft.com/office/drawing/2014/main" id="{FEAA0DDC-67B9-47CD-8A81-AACDB5C00960}"/>
              </a:ext>
            </a:extLst>
          </p:cNvPr>
          <p:cNvSpPr>
            <a:spLocks xmlns:a="http://schemas.openxmlformats.org/drawingml/2006/main" noGrp="1"/>
          </p:cNvSpPr>
          <p:nvPr/>
        </p:nvSpPr>
        <p:spPr>
          <a:xfrm xmlns:a="http://schemas.openxmlformats.org/drawingml/2006/main">
            <a:off x="781050" y="2847975"/>
            <a:ext cx="10572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39700">
              <a:spcAft>
                <a:spcPts val="2000"/>
              </a:spcAft>
              <a:buChar char="•"/>
              <a:defRPr sz="2250" b="0">
                <a:solidFill>
                  <a:srgbClr val="182A3C"/>
                </a:solidFill>
                <a:latin typeface="Liberation Sans"/>
                <a:ea typeface="Liberation Sans"/>
                <a:cs typeface="Liberation Sans"/>
              </a:defRPr>
            </a:pPr>
            <a:r>
              <a:t>Confirm the catalog owner, support owners and hosting responsibility.</a:t>
            </a:r>
          </a:p>
          <a:p xmlns:a="http://schemas.openxmlformats.org/drawingml/2006/main">
            <a:pPr marL="266700" indent="-139700">
              <a:spcAft>
                <a:spcPts val="2000"/>
              </a:spcAft>
              <a:buChar char="•"/>
              <a:defRPr sz="2250" b="0">
                <a:solidFill>
                  <a:srgbClr val="182A3C"/>
                </a:solidFill>
                <a:latin typeface="Liberation Sans"/>
                <a:ea typeface="Liberation Sans"/>
                <a:cs typeface="Liberation Sans"/>
              </a:defRPr>
            </a:pPr>
            <a:r>
              <a:t>Validate the initial software records and publish a known internal address.</a:t>
            </a:r>
          </a:p>
          <a:p xmlns:a="http://schemas.openxmlformats.org/drawingml/2006/main">
            <a:pPr marL="266700" indent="-139700">
              <a:spcAft>
                <a:spcPts val="2000"/>
              </a:spcAft>
              <a:buChar char="•"/>
              <a:defRPr sz="2250" b="0">
                <a:solidFill>
                  <a:srgbClr val="182A3C"/>
                </a:solidFill>
                <a:latin typeface="Liberation Sans"/>
                <a:ea typeface="Liberation Sans"/>
                <a:cs typeface="Liberation Sans"/>
              </a:defRPr>
            </a:pPr>
            <a:r>
              <a:t>Use a small pilot to test the employee and maintainer workflows.</a:t>
            </a:r>
          </a:p>
          <a:p xmlns:a="http://schemas.openxmlformats.org/drawingml/2006/main">
            <a:pPr marL="266700" indent="-139700">
              <a:spcAft>
                <a:spcPts val="2000"/>
              </a:spcAft>
              <a:buChar char="•"/>
              <a:defRPr sz="2250" b="0">
                <a:solidFill>
                  <a:srgbClr val="182A3C"/>
                </a:solidFill>
                <a:latin typeface="Liberation Sans"/>
                <a:ea typeface="Liberation Sans"/>
                <a:cs typeface="Liberation Sans"/>
              </a:defRPr>
            </a:pPr>
            <a:r>
              <a:t>Review feedback before expanding the rollout.</a:t>
            </a:r>
          </a:p>
        </p:txBody>
      </p:sp>
    </p:spTree>
    <p:extLst>
      <p:ext uri="{BB962C8B-B14F-4D97-AF65-F5344CB8AC3E}">
        <p14:creationId xmlns:p14="http://schemas.microsoft.com/office/powerpoint/2010/main" val="13962923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CF0AF9-8C58-4E16-BDFA-891E430DAA45}"/>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Appendix: recent updates and notices</a:t>
            </a:r>
          </a:p>
        </p:txBody>
      </p:sp>
      <p:sp>
        <p:nvSpPr>
          <p:cNvPr id="2" name="">
            <a:extLst xmlns:a="http://schemas.openxmlformats.org/drawingml/2006/main">
              <a:ext uri="{FF2B5EF4-FFF2-40B4-BE49-F238E27FC236}">
                <a16:creationId xmlns:a16="http://schemas.microsoft.com/office/drawing/2014/main" id="{CB0951F8-EA8B-460C-A604-8990F80FC513}"/>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1C20A0F6-B475-4FCE-9BF7-588C99D76A09}"/>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30509fa62e3444b"/>
          <a:stretch xmlns:a="http://schemas.openxmlformats.org/drawingml/2006/main"/>
        </p:blipFill>
        <p:spPr>
          <a:xfrm xmlns:a="http://schemas.openxmlformats.org/drawingml/2006/main">
            <a:off x="2102189" y="1314450"/>
            <a:ext cx="7987622"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916042F-0626-4093-8CBC-B0BA679D0299}"/>
              </a:ext>
            </a:extLst>
          </p:cNvPr>
          <p:cNvSpPr>
            <a:spLocks xmlns:a="http://schemas.openxmlformats.org/drawingml/2006/main" noGrp="1"/>
          </p:cNvSpPr>
          <p:nvPr/>
        </p:nvSpPr>
        <p:spPr>
          <a:xfrm xmlns:a="http://schemas.openxmlformats.org/drawingml/2006/main">
            <a:off x="685800" y="60102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473"/>
                </a:solidFill>
                <a:latin typeface="Liberation Sans"/>
                <a:ea typeface="Liberation Sans"/>
                <a:cs typeface="Liberation Sans"/>
              </a:defRPr>
            </a:pPr>
            <a:r>
              <a:rPr sz="1875" b="0">
                <a:solidFill>
                  <a:srgbClr val="566473"/>
                </a:solidFill>
                <a:latin typeface="Liberation Sans"/>
                <a:ea typeface="Liberation Sans"/>
                <a:cs typeface="Liberation Sans"/>
              </a:rPr>
              <a:t>The update page brings new listings, release information and catalog changes together.</a:t>
            </a:r>
          </a:p>
        </p:txBody>
      </p:sp>
    </p:spTree>
    <p:extLst>
      <p:ext uri="{BB962C8B-B14F-4D97-AF65-F5344CB8AC3E}">
        <p14:creationId xmlns:p14="http://schemas.microsoft.com/office/powerpoint/2010/main" val="1230064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1C9690-EE7E-4D02-9E8B-7DA44D2F14EE}"/>
              </a:ext>
            </a:extLst>
          </p:cNvPr>
          <p:cNvSpPr>
            <a:spLocks xmlns:a="http://schemas.openxmlformats.org/drawingml/2006/main" noGrp="1"/>
          </p:cNvSpPr>
          <p:nvPr/>
        </p:nvSpPr>
        <p:spPr>
          <a:xfrm xmlns:a="http://schemas.openxmlformats.org/drawingml/2006/main">
            <a:off x="685800" y="419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A3C"/>
                </a:solidFill>
                <a:latin typeface="Liberation Sans"/>
                <a:ea typeface="Liberation Sans"/>
                <a:cs typeface="Liberation Sans"/>
              </a:defRPr>
            </a:pPr>
            <a:r>
              <a:rPr sz="3300" b="1">
                <a:solidFill>
                  <a:srgbClr val="182A3C"/>
                </a:solidFill>
                <a:latin typeface="Liberation Sans"/>
                <a:ea typeface="Liberation Sans"/>
                <a:cs typeface="Liberation Sans"/>
              </a:rPr>
              <a:t>Appendix: system documentation in Studio</a:t>
            </a:r>
          </a:p>
        </p:txBody>
      </p:sp>
      <p:sp>
        <p:nvSpPr>
          <p:cNvPr id="2" name="">
            <a:extLst xmlns:a="http://schemas.openxmlformats.org/drawingml/2006/main">
              <a:ext uri="{FF2B5EF4-FFF2-40B4-BE49-F238E27FC236}">
                <a16:creationId xmlns:a16="http://schemas.microsoft.com/office/drawing/2014/main" id="{7B6A87DC-72EB-414E-B654-8B84C4E07EA5}"/>
              </a:ext>
            </a:extLst>
          </p:cNvPr>
          <p:cNvSpPr>
            <a:spLocks xmlns:a="http://schemas.openxmlformats.org/drawingml/2006/main" noGrp="1"/>
          </p:cNvSpPr>
          <p:nvPr/>
        </p:nvSpPr>
        <p:spPr>
          <a:xfrm xmlns:a="http://schemas.openxmlformats.org/drawingml/2006/main">
            <a:off x="6858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Tool Atlas 1.6.0</a:t>
            </a:r>
          </a:p>
        </p:txBody>
      </p:sp>
      <p:sp>
        <p:nvSpPr>
          <p:cNvPr id="3" name="">
            <a:extLst xmlns:a="http://schemas.openxmlformats.org/drawingml/2006/main">
              <a:ext uri="{FF2B5EF4-FFF2-40B4-BE49-F238E27FC236}">
                <a16:creationId xmlns:a16="http://schemas.microsoft.com/office/drawing/2014/main" id="{3DD686BE-2001-4A2D-AF95-CF9C3A6D2A81}"/>
              </a:ext>
            </a:extLst>
          </p:cNvPr>
          <p:cNvSpPr>
            <a:spLocks xmlns:a="http://schemas.openxmlformats.org/drawingml/2006/main" noGrp="1"/>
          </p:cNvSpPr>
          <p:nvPr/>
        </p:nvSpPr>
        <p:spPr>
          <a:xfrm xmlns:a="http://schemas.openxmlformats.org/drawingml/2006/main">
            <a:off x="1104900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473"/>
                </a:solidFill>
                <a:latin typeface="Liberation Sans"/>
                <a:ea typeface="Liberation Sans"/>
                <a:cs typeface="Liberation Sans"/>
              </a:defRPr>
            </a:pPr>
            <a:r>
              <a:rPr sz="1125" b="0">
                <a:solidFill>
                  <a:srgbClr val="566473"/>
                </a:solidFill>
                <a:latin typeface="Liberation Sans"/>
                <a:ea typeface="Liberation Sans"/>
                <a:cs typeface="Liberation Sans"/>
              </a:rPr>
              <a:t>18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24b0ebbab3c43b6"/>
          <a:stretch xmlns:a="http://schemas.openxmlformats.org/drawingml/2006/main"/>
        </p:blipFill>
        <p:spPr>
          <a:xfrm xmlns:a="http://schemas.openxmlformats.org/drawingml/2006/main">
            <a:off x="2102189" y="1314450"/>
            <a:ext cx="7987622"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B181205-2EA3-4B19-98C6-E253D277A72B}"/>
              </a:ext>
            </a:extLst>
          </p:cNvPr>
          <p:cNvSpPr>
            <a:spLocks xmlns:a="http://schemas.openxmlformats.org/drawingml/2006/main" noGrp="1"/>
          </p:cNvSpPr>
          <p:nvPr/>
        </p:nvSpPr>
        <p:spPr>
          <a:xfrm xmlns:a="http://schemas.openxmlformats.org/drawingml/2006/main">
            <a:off x="685800" y="60102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473"/>
                </a:solidFill>
                <a:latin typeface="Liberation Sans"/>
                <a:ea typeface="Liberation Sans"/>
                <a:cs typeface="Liberation Sans"/>
              </a:defRPr>
            </a:pPr>
            <a:r>
              <a:rPr sz="1875" b="0">
                <a:solidFill>
                  <a:srgbClr val="566473"/>
                </a:solidFill>
                <a:latin typeface="Liberation Sans"/>
                <a:ea typeface="Liberation Sans"/>
                <a:cs typeface="Liberation Sans"/>
              </a:rPr>
              <a:t>Search existing system documents, edit their content and check the preview in one place.</a:t>
            </a:r>
          </a:p>
        </p:txBody>
      </p:sp>
    </p:spTree>
    <p:extLst>
      <p:ext uri="{BB962C8B-B14F-4D97-AF65-F5344CB8AC3E}">
        <p14:creationId xmlns:p14="http://schemas.microsoft.com/office/powerpoint/2010/main" val="1046936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2026-09-15T04:25:54.7020000Z</dcterms:created>
  <dcterms:modified xsi:type="dcterms:W3CDTF">2026-09-15T04:25:54.7020000Z</dcterms:modified>
</coreProperties>
</file>