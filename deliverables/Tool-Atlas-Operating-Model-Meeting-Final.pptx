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b6e335fd954840" /><Relationship Type="http://schemas.openxmlformats.org/officeDocument/2006/relationships/extended-properties" Target="/docProps/app.xml" Id="Rd6520c9b5cbe4dc9" /><Relationship Type="http://schemas.openxmlformats.org/officeDocument/2006/relationships/officeDocument" Target="/ppt/presentation.xml" Id="R91822240d7ba4f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bef74fba2c4ab2"/>
  </p:sldMasterIdLst>
  <p:notesMasterIdLst>
    <p:notesMasterId xmlns:r="http://schemas.openxmlformats.org/officeDocument/2006/relationships" r:id="R18742ee06198485d"/>
  </p:notesMasterIdLst>
  <p:sldIdLst>
    <p:sldId xmlns:r="http://schemas.openxmlformats.org/officeDocument/2006/relationships" id="256" r:id="Rbf1698e4470b4853"/>
    <p:sldId xmlns:r="http://schemas.openxmlformats.org/officeDocument/2006/relationships" id="257" r:id="R269a39174aa344e8"/>
    <p:sldId xmlns:r="http://schemas.openxmlformats.org/officeDocument/2006/relationships" id="258" r:id="R666fc5e607c246de"/>
    <p:sldId xmlns:r="http://schemas.openxmlformats.org/officeDocument/2006/relationships" id="259" r:id="Rf8ead7373eca402a"/>
    <p:sldId xmlns:r="http://schemas.openxmlformats.org/officeDocument/2006/relationships" id="260" r:id="Ra648ba434a0341b7"/>
    <p:sldId xmlns:r="http://schemas.openxmlformats.org/officeDocument/2006/relationships" id="261" r:id="Ra346b7307b32449f"/>
    <p:sldId xmlns:r="http://schemas.openxmlformats.org/officeDocument/2006/relationships" id="262" r:id="R68cb2f4d794f4bb2"/>
    <p:sldId xmlns:r="http://schemas.openxmlformats.org/officeDocument/2006/relationships" id="263" r:id="Rff318634187c4c69"/>
    <p:sldId xmlns:r="http://schemas.openxmlformats.org/officeDocument/2006/relationships" id="264" r:id="R768d76dad3424e56"/>
    <p:sldId xmlns:r="http://schemas.openxmlformats.org/officeDocument/2006/relationships" id="265" r:id="Ra5aa3faac45f4151"/>
    <p:sldId xmlns:r="http://schemas.openxmlformats.org/officeDocument/2006/relationships" id="266" r:id="R300ecf364b68477a"/>
    <p:sldId xmlns:r="http://schemas.openxmlformats.org/officeDocument/2006/relationships" id="267" r:id="R3121058f4fb74c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17b3a1d9df45db" /><Relationship Type="http://schemas.openxmlformats.org/officeDocument/2006/relationships/slideMaster" Target="/ppt/slideMasters/slideMaster1.xml" Id="R9cbef74fba2c4ab2" /><Relationship Type="http://schemas.openxmlformats.org/officeDocument/2006/relationships/notesMaster" Target="/ppt/notesMasters/notesMaster1.xml" Id="R18742ee06198485d" /><Relationship Type="http://schemas.openxmlformats.org/officeDocument/2006/relationships/presProps" Target="/ppt/presProps.xml" Id="Rf3d12b328c6f46c8" /><Relationship Type="http://schemas.openxmlformats.org/officeDocument/2006/relationships/tableStyles" Target="/ppt/tableStyles.xml" Id="Rafa09705c8b247b7" /><Relationship Type="http://schemas.openxmlformats.org/officeDocument/2006/relationships/slide" Target="/ppt/slides/slide1.xml" Id="Rbf1698e4470b4853" /><Relationship Type="http://schemas.openxmlformats.org/officeDocument/2006/relationships/slide" Target="/ppt/slides/slide2.xml" Id="R269a39174aa344e8" /><Relationship Type="http://schemas.openxmlformats.org/officeDocument/2006/relationships/slide" Target="/ppt/slides/slide3.xml" Id="R666fc5e607c246de" /><Relationship Type="http://schemas.openxmlformats.org/officeDocument/2006/relationships/slide" Target="/ppt/slides/slide4.xml" Id="Rf8ead7373eca402a" /><Relationship Type="http://schemas.openxmlformats.org/officeDocument/2006/relationships/slide" Target="/ppt/slides/slide5.xml" Id="Ra648ba434a0341b7" /><Relationship Type="http://schemas.openxmlformats.org/officeDocument/2006/relationships/slide" Target="/ppt/slides/slide6.xml" Id="Ra346b7307b32449f" /><Relationship Type="http://schemas.openxmlformats.org/officeDocument/2006/relationships/slide" Target="/ppt/slides/slide7.xml" Id="R68cb2f4d794f4bb2" /><Relationship Type="http://schemas.openxmlformats.org/officeDocument/2006/relationships/slide" Target="/ppt/slides/slide8.xml" Id="Rff318634187c4c69" /><Relationship Type="http://schemas.openxmlformats.org/officeDocument/2006/relationships/slide" Target="/ppt/slides/slide9.xml" Id="R768d76dad3424e56" /><Relationship Type="http://schemas.openxmlformats.org/officeDocument/2006/relationships/slide" Target="/ppt/slides/slide10.xml" Id="Ra5aa3faac45f4151" /><Relationship Type="http://schemas.openxmlformats.org/officeDocument/2006/relationships/slide" Target="/ppt/slides/slide11.xml" Id="R300ecf364b68477a" /><Relationship Type="http://schemas.openxmlformats.org/officeDocument/2006/relationships/slide" Target="/ppt/slides/slide12.xml" Id="R3121058f4fb74c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46d4667dda4a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468d92db704bd0" /><Relationship Type="http://schemas.openxmlformats.org/officeDocument/2006/relationships/notesMaster" Target="/ppt/notesMasters/notesMaster1.xml" Id="R39b415465b0e41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700e9959ff4c52" /><Relationship Type="http://schemas.openxmlformats.org/officeDocument/2006/relationships/notesMaster" Target="/ppt/notesMasters/notesMaster1.xml" Id="R421f2fefdc134d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6b3c9830ac4245" /><Relationship Type="http://schemas.openxmlformats.org/officeDocument/2006/relationships/notesMaster" Target="/ppt/notesMasters/notesMaster1.xml" Id="R4d918bf7201746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6187354d804790" /><Relationship Type="http://schemas.openxmlformats.org/officeDocument/2006/relationships/notesMaster" Target="/ppt/notesMasters/notesMaster1.xml" Id="Rcf69b030cd5f4e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b78b64624548c5" /><Relationship Type="http://schemas.openxmlformats.org/officeDocument/2006/relationships/notesMaster" Target="/ppt/notesMasters/notesMaster1.xml" Id="R2e6384857fca41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90e7b6231a4506" /><Relationship Type="http://schemas.openxmlformats.org/officeDocument/2006/relationships/notesMaster" Target="/ppt/notesMasters/notesMaster1.xml" Id="R72fc1735dbeb46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a2eb277eb649c7" /><Relationship Type="http://schemas.openxmlformats.org/officeDocument/2006/relationships/notesMaster" Target="/ppt/notesMasters/notesMaster1.xml" Id="R6c863e016fe740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97ac726e954250" /><Relationship Type="http://schemas.openxmlformats.org/officeDocument/2006/relationships/notesMaster" Target="/ppt/notesMasters/notesMaster1.xml" Id="Rbee21177a88e44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8b46a070ac4ba6" /><Relationship Type="http://schemas.openxmlformats.org/officeDocument/2006/relationships/notesMaster" Target="/ppt/notesMasters/notesMaster1.xml" Id="R976751780aeb415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66964170a84bbc" /><Relationship Type="http://schemas.openxmlformats.org/officeDocument/2006/relationships/notesMaster" Target="/ppt/notesMasters/notesMaster1.xml" Id="Rd660d1c934544f0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133aa8dbc524a87" /><Relationship Type="http://schemas.openxmlformats.org/officeDocument/2006/relationships/notesMaster" Target="/ppt/notesMasters/notesMaster1.xml" Id="R159fdb8fdf65426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6afc20233ab4c34" /><Relationship Type="http://schemas.openxmlformats.org/officeDocument/2006/relationships/notesMaster" Target="/ppt/notesMasters/notesMaster1.xml" Id="Rcb74712b7c9c43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agree how Tool Atlas should serve users and how the organization should operate it.</a:t>
            </a:r>
          </a:p>
          <a:p xmlns:a="http://schemas.openxmlformats.org/drawingml/2006/main">
            <a:r>
              <a:t>The deck separates current capabilities from proposed extensions.</a:t>
            </a:r>
          </a:p>
          <a:p xmlns:a="http://schemas.openxmlformats.org/drawingml/2006/main">
            <a:r>
              <a:t>Target decisions: delivery modes, contribution routes, token-page boundary, maintenance ownership, and storage policy.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five outcomes as the agenda.</a:t>
            </a:r>
          </a:p>
          <a:p xmlns:a="http://schemas.openxmlformats.org/drawingml/2006/main">
            <a:r>
              <a:t>Keep product decisions separate from implementation details until the ownership and trust boundaries are agreed.</a:t>
            </a:r>
          </a:p>
          <a:p xmlns:a="http://schemas.openxmlformats.org/drawingml/2006/main">
            <a:r>
              <a:t>Record decisions and owners directly in the meeting-notes document.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state is confirmed by the repository: React and Vite frontend, generated catalog data, no backend, no login, and no application secrets.</a:t>
            </a:r>
          </a:p>
          <a:p xmlns:a="http://schemas.openxmlformats.org/drawingml/2006/main">
            <a:r>
              <a:t>Saved tools remain in each visitor's browser. They do not create a shared administrative record.</a:t>
            </a:r>
          </a:p>
          <a:p xmlns:a="http://schemas.openxmlformats.org/drawingml/2006/main">
            <a:r>
              <a:t>The deployment design exposes Caddy on HTTPS and keeps the NGINX app container on an internal network.</a:t>
            </a:r>
          </a:p>
          <a:p xmlns:a="http://schemas.openxmlformats.org/drawingml/2006/main">
            <a:r>
              <a:t>This current-state slide does not include the proposed hidden developer page or contact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release record should determine the action, so the user does not need to understand storage architecture.</a:t>
            </a:r>
          </a:p>
          <a:p xmlns:a="http://schemas.openxmlformats.org/drawingml/2006/main">
            <a:r>
              <a:t>Use explicit verbs on buttons. Avoid one generic Download button for all three modes.</a:t>
            </a:r>
          </a:p>
          <a:p xmlns:a="http://schemas.openxmlformats.org/drawingml/2006/main">
            <a:r>
              <a:t>A contact path should still provide expectations, such as who receives the request and what information the user must supply.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current schema stores a version and one HTTPS download URL. Supporting all three modes requires an explicit delivery-mode field and mode-specific validation.</a:t>
            </a:r>
          </a:p>
          <a:p xmlns:a="http://schemas.openxmlformats.org/drawingml/2006/main">
            <a:r>
              <a:t>Local package is a proposal. It introduces binary lifecycle, capacity, integrity, malware scanning, and recovery responsibilities.</a:t>
            </a:r>
          </a:p>
          <a:p xmlns:a="http://schemas.openxmlformats.org/drawingml/2006/main">
            <a:r>
              <a:t>External repository is usually the strongest default when Artifactory or an equivalent service already exists.</a:t>
            </a:r>
          </a:p>
          <a:p xmlns:a="http://schemas.openxmlformats.org/drawingml/2006/main">
            <a:r>
              <a:t>Contact or guide is a fulfillment path, not binary storage. The catalog should track the public instructions, owner, and service expectation.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Agree one default and two exception paths. The proposed default is the managed external repository.</a:t>
            </a:r>
          </a:p>
          <a:p xmlns:a="http://schemas.openxmlformats.org/drawingml/2006/main">
            <a:r>
              <a:t>For local files, decide whether the binary belongs inside the web container, on a mounted volume, or behind a separate package service. A separate package service or repository gives cleaner deployment and recovery boundaries.</a:t>
            </a:r>
          </a:p>
          <a:p xmlns:a="http://schemas.openxmlformats.org/drawingml/2006/main">
            <a:r>
              <a:t>Contact and guide entries need operational ownership even though they do not consume binary storage.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current GitHub and GitLab paths already use approval-gated branches and pull or merge requests.</a:t>
            </a:r>
          </a:p>
          <a:p xmlns:a="http://schemas.openxmlformats.org/drawingml/2006/main">
            <a:r>
              <a:t>Treat software additions, version changes, corrections, and retirement as the same controlled publication process.</a:t>
            </a:r>
          </a:p>
          <a:p xmlns:a="http://schemas.openxmlformats.org/drawingml/2006/main">
            <a:r>
              <a:t>The maintainer approval and the merge review should be distinct decisions where practical.</a:t>
            </a:r>
          </a:p>
          <a:p xmlns:a="http://schemas.openxmlformats.org/drawingml/2006/main">
            <a:r>
              <a:t>After deployment, verify the live action for the selected release. CI success alone does not confirm the external destination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Current: the CLI and issue-based paths exist in the repository.</a:t>
            </a:r>
          </a:p>
          <a:p xmlns:a="http://schemas.openxmlformats.org/drawingml/2006/main">
            <a:r>
              <a:t>Proposed: a hidden developer page. Hidden routing alone provides no authorization.</a:t>
            </a:r>
          </a:p>
          <a:p xmlns:a="http://schemas.openxmlformats.org/drawingml/2006/main">
            <a:r>
              <a:t>The clean design is to make every channel an adapter into one shared schema, validator, generator, and review workflow.</a:t>
            </a:r>
          </a:p>
          <a:p xmlns:a="http://schemas.openxmlformats.org/drawingml/2006/main">
            <a:r>
              <a:t>No channel should bypass the normal pull or merge request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main architectural decision in the meeting.</a:t>
            </a:r>
          </a:p>
          <a:p xmlns:a="http://schemas.openxmlformats.org/drawingml/2006/main">
            <a:r>
              <a:t>A hidden URL is discoverable and does not protect a token. Any Vite browser variable becomes public JavaScript.</a:t>
            </a:r>
          </a:p>
          <a:p xmlns:a="http://schemas.openxmlformats.org/drawingml/2006/main">
            <a:r>
              <a:t>Option A: keep the site static and have the page generate an issue or copy a validated payload.</a:t>
            </a:r>
          </a:p>
          <a:p xmlns:a="http://schemas.openxmlformats.org/drawingml/2006/main">
            <a:r>
              <a:t>Option B: add a private authenticated submission service that owns the service credential and creates a review request.</a:t>
            </a:r>
          </a:p>
          <a:p xmlns:a="http://schemas.openxmlformats.org/drawingml/2006/main">
            <a:r>
              <a:t>Prefer short-lived provider credentials or a GitHub App style integration over a long-lived personal token.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Replace role names with actual people or teams during the meeting.</a:t>
            </a:r>
          </a:p>
          <a:p xmlns:a="http://schemas.openxmlformats.org/drawingml/2006/main">
            <a:r>
              <a:t>Maintenance should cover both the static website and every external dependency that a release points to.</a:t>
            </a:r>
          </a:p>
          <a:p xmlns:a="http://schemas.openxmlformats.org/drawingml/2006/main">
            <a:r>
              <a:t>Track live verification separately from CI checks. A valid URL can still lead to the wrong package or require unavailable access.</a:t>
            </a:r>
          </a:p>
          <a:p xmlns:a="http://schemas.openxmlformats.org/drawingml/2006/main">
            <a:r>
              <a:t>Record the restore test result and access review as evidence, not only as recurring intentions.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current website can be rebuilt from Git and a locked dependency set. Persistent data enters the design only through local binary storage and Caddy certificate volumes.</a:t>
            </a:r>
          </a:p>
          <a:p xmlns:a="http://schemas.openxmlformats.org/drawingml/2006/main">
            <a:r>
              <a:t>If local storage is selected, define capacity thresholds, checksum records, scan results, access logs, and retirement rules before launch.</a:t>
            </a:r>
          </a:p>
          <a:p xmlns:a="http://schemas.openxmlformats.org/drawingml/2006/main">
            <a:r>
              <a:t>For Artifactory, document which team backs it up and what Tool Atlas should display during an outage.</a:t>
            </a:r>
          </a:p>
          <a:p xmlns:a="http://schemas.openxmlformats.org/drawingml/2006/main">
            <a:r>
              <a:t>A contact route still needs continuity: current owner, backup owner, guide availability, and escalation instructions.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Capture each decision, owner, and due date in the meeting notes.</a:t>
            </a:r>
          </a:p>
          <a:p xmlns:a="http://schemas.openxmlformats.org/drawingml/2006/main">
            <a:r>
              <a:t>Suggested sequence after agreement: schema design, validator changes, UI labels, contributor adapters, storage integration, operational documentation, and acceptance testing.</a:t>
            </a:r>
          </a:p>
          <a:p xmlns:a="http://schemas.openxmlformats.org/drawingml/2006/main">
            <a:r>
              <a:t>Do not enable local binary hosting or a token-backed form until their operational controls and recovery paths are tested.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559727535948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ea590edffa4438" /><Relationship Type="http://schemas.openxmlformats.org/officeDocument/2006/relationships/slideLayout" Target="/ppt/slideLayouts/slideLayout1.xml" Id="R12e6d3e25d4f4d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e6d3e25d4f4d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2d23b7a3d94475" /><Relationship Type="http://schemas.openxmlformats.org/officeDocument/2006/relationships/image" Target="/ppt/media/image.png" Id="Rd4044f41e10c4433" /><Relationship Type="http://schemas.openxmlformats.org/officeDocument/2006/relationships/notesSlide" Target="/ppt/notesSlides/notesSlide1.xml" Id="R5c35666dc2114e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3a4876fb97451c" /><Relationship Type="http://schemas.openxmlformats.org/officeDocument/2006/relationships/notesSlide" Target="/ppt/notesSlides/notesSlide2.xml" Id="R508a7043216d46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1f1fc8e6094464" /><Relationship Type="http://schemas.openxmlformats.org/officeDocument/2006/relationships/image" Target="/ppt/media/image2.png" Id="Rc2809c855e0d4b85" /><Relationship Type="http://schemas.openxmlformats.org/officeDocument/2006/relationships/notesSlide" Target="/ppt/notesSlides/notesSlide3.xml" Id="Rbfe04c3122324e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2d1e96775a404e" /><Relationship Type="http://schemas.openxmlformats.org/officeDocument/2006/relationships/notesSlide" Target="/ppt/notesSlides/notesSlide4.xml" Id="R4b6ed2eb4c9e42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c6669579fe47c9" /><Relationship Type="http://schemas.openxmlformats.org/officeDocument/2006/relationships/notesSlide" Target="/ppt/notesSlides/notesSlide5.xml" Id="Rc7e49b06f4bf47f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14f1b10bdc44fc" /><Relationship Type="http://schemas.openxmlformats.org/officeDocument/2006/relationships/notesSlide" Target="/ppt/notesSlides/notesSlide6.xml" Id="R042a016dc83041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e7f679d874139" /><Relationship Type="http://schemas.openxmlformats.org/officeDocument/2006/relationships/notesSlide" Target="/ppt/notesSlides/notesSlide7.xml" Id="R7a415a8ee24843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e4c79ec33e4577" /><Relationship Type="http://schemas.openxmlformats.org/officeDocument/2006/relationships/notesSlide" Target="/ppt/notesSlides/notesSlide8.xml" Id="R51aeedf39d7944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73669695c04b9a" /><Relationship Type="http://schemas.openxmlformats.org/officeDocument/2006/relationships/notesSlide" Target="/ppt/notesSlides/notesSlide9.xml" Id="R3d10b944cf4244d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b34620ea6c4aee" /><Relationship Type="http://schemas.openxmlformats.org/officeDocument/2006/relationships/notesSlide" Target="/ppt/notesSlides/notesSlide10.xml" Id="R03e4a8b4485a491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784ca3019745fd" /><Relationship Type="http://schemas.openxmlformats.org/officeDocument/2006/relationships/notesSlide" Target="/ppt/notesSlides/notesSlide11.xml" Id="R1cf6aa23ed9e499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194a010d3a4fa0" /><Relationship Type="http://schemas.openxmlformats.org/officeDocument/2006/relationships/notesSlide" Target="/ppt/notesSlides/notesSlide12.xml" Id="R26790a68d4fe4a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E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D8A08D-C518-432C-9B7B-94C64E01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1B"/>
          </a:solidFill>
          <a:ln xmlns:a="http://schemas.openxmlformats.org/drawingml/2006/main" w="0">
            <a:noFill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044f41e10c4433"/>
          <a:srcRect xmlns:a="http://schemas.openxmlformats.org/drawingml/2006/main" l="26308" t="0" r="263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10375" y="571500"/>
            <a:ext cx="4762500" cy="5715000"/>
          </a:xfrm>
          <a:prstGeom xmlns:a="http://schemas.openxmlformats.org/drawingml/2006/main" prst="roundRect">
            <a:avLst>
              <a:gd name="adj" fmla="val 4400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3FBE64-329B-4FEE-895C-53783C68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2247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OPERATING MODEL WORKSHOP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F8932C-8F03-4585-9D9F-0414ED1F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33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40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Tool Atlas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D45AC-A9BA-4123-BB19-C3371F7F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5334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D9E7F5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D9E7F5"/>
                </a:solidFill>
                <a:latin typeface="Noto Sans"/>
                <a:ea typeface="Noto Sans"/>
                <a:cs typeface="Noto Sans"/>
              </a:rPr>
              <a:t>User journeys, administration, software delivery, maintenance, and storage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A2DC03-B798-4D8A-BC29-41ED310D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1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0876C4-0B78-44BA-99C8-C5BC2BFB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Meeting deck and decision guide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BBA619-E11B-429B-9AEE-918C4C5C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7DD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AFC7DD"/>
                </a:solidFill>
                <a:latin typeface="Noto Sans"/>
                <a:ea typeface="Noto Sans"/>
                <a:cs typeface="Noto Sans"/>
              </a:rPr>
              <a:t>4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7316782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BE917C-D5D2-4D6A-A13B-C3770B5B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E8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769E8"/>
                </a:solidFill>
                <a:latin typeface="Noto Sans"/>
                <a:ea typeface="Noto Sans"/>
                <a:cs typeface="Noto Sans"/>
              </a:rPr>
              <a:t>WHAT WE NEED TO DECIDE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06FE97-01D2-4E16-9492-E2958EEC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E38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071E38"/>
                </a:solidFill>
                <a:latin typeface="Noto Sans"/>
                <a:ea typeface="Noto Sans"/>
                <a:cs typeface="Noto Sans"/>
              </a:rPr>
              <a:t>Meeting outcomes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B943DB-AD9D-450C-890F-B8B54E8D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A7D9E-39A6-4534-B622-489073D9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762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86581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486581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4797C-88D8-4DEB-BA8B-D2C916A4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86581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486581"/>
                </a:solidFill>
                <a:latin typeface="Noto Sans"/>
                <a:ea typeface="Noto Sans"/>
                <a:cs typeface="Noto Sans"/>
              </a:rPr>
              <a:t>By the end of the meeting, the team should have one agreed operating model and named owners for the open design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8528B3-6725-4982-A8B8-76264F0A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6572250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575" b="0">
                <a:solidFill>
                  <a:srgbClr val="102A43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102A43"/>
                </a:solidFill>
                <a:latin typeface="Noto Sans"/>
                <a:ea typeface="Noto Sans"/>
                <a:cs typeface="Noto Sans"/>
              </a:rPr>
              <a:t>The employee journey from discovery to a successful installation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575" b="0">
                <a:solidFill>
                  <a:srgbClr val="102A43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102A43"/>
                </a:solidFill>
                <a:latin typeface="Noto Sans"/>
                <a:ea typeface="Noto Sans"/>
                <a:cs typeface="Noto Sans"/>
              </a:rPr>
              <a:t>The administrative journey from submission through approval and publication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575" b="0">
                <a:solidFill>
                  <a:srgbClr val="102A43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102A43"/>
                </a:solidFill>
                <a:latin typeface="Noto Sans"/>
                <a:ea typeface="Noto Sans"/>
                <a:cs typeface="Noto Sans"/>
              </a:rPr>
              <a:t>Rules for local packages, repository links, and contact or guide requests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575" b="0">
                <a:solidFill>
                  <a:srgbClr val="102A43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102A43"/>
                </a:solidFill>
                <a:latin typeface="Noto Sans"/>
                <a:ea typeface="Noto Sans"/>
                <a:cs typeface="Noto Sans"/>
              </a:rPr>
              <a:t>Maintenance ownership, review frequency, monitoring, backup, and recovery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575" b="0">
                <a:solidFill>
                  <a:srgbClr val="102A43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102A43"/>
                </a:solidFill>
                <a:latin typeface="Noto Sans"/>
                <a:ea typeface="Noto Sans"/>
                <a:cs typeface="Noto Sans"/>
              </a:rPr>
              <a:t>The safest role for a hidden developer page and its access token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CDB0F3-487D-4E63-A9FC-3E4FFC5C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95500"/>
            <a:ext cx="2952750" cy="3086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3E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9E2D4B-0F1A-46DC-A599-A8CE21D3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8125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E38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071E38"/>
                </a:solidFill>
                <a:latin typeface="Noto Sans"/>
                <a:ea typeface="Noto Sans"/>
                <a:cs typeface="Noto Sans"/>
              </a:rPr>
              <a:t>Decision lens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6D443E-6E86-48EA-8257-8B2D32FF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1465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86581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486581"/>
                </a:solidFill>
                <a:latin typeface="Noto Sans"/>
                <a:ea typeface="Noto Sans"/>
                <a:cs typeface="Noto Sans"/>
              </a:rPr>
              <a:t>Every path must answer: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CF30C2-7326-4FC5-9C83-13C4C962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337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E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B7F3C2-6FEA-4265-853A-39F96224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337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8FFF3F-0902-4A0A-9BAD-36AFBEDC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43275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102A43"/>
                </a:solidFill>
                <a:latin typeface="Noto Sans"/>
                <a:ea typeface="Noto Sans"/>
                <a:cs typeface="Noto Sans"/>
              </a:rPr>
              <a:t>Who can request?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6F6D79-9DBF-4634-9781-842F2931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909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E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EF7EC1-67F6-4AD3-8C2F-EAD5AB60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909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CE69C8-52AB-4209-895A-CA38816E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00475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102A43"/>
                </a:solidFill>
                <a:latin typeface="Noto Sans"/>
                <a:ea typeface="Noto Sans"/>
                <a:cs typeface="Noto Sans"/>
              </a:rPr>
              <a:t>Who approves?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F5CA45-AEFC-45A4-B263-C435868D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481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21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8F66E1-9BDB-4FFC-B8DC-9BE498A1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481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BB6246-7F9A-4577-A200-F68D8EC8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57675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102A43"/>
                </a:solidFill>
                <a:latin typeface="Noto Sans"/>
                <a:ea typeface="Noto Sans"/>
                <a:cs typeface="Noto Sans"/>
              </a:rPr>
              <a:t>Where is the binary?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780D1A-D509-492B-A196-C7AC2C73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053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E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DBC911-8CBF-4C94-B4D0-38764158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053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395E0C-A196-4AF3-91F9-86FA6393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14875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102A43"/>
                </a:solidFill>
                <a:latin typeface="Noto Sans"/>
                <a:ea typeface="Noto Sans"/>
                <a:cs typeface="Noto Sans"/>
              </a:rPr>
              <a:t>How do we recover?</a:t>
            </a:r>
          </a:p>
        </p:txBody>
      </p:sp>
    </p:spTree>
    <p:extLst>
      <p:ext uri="{BB962C8B-B14F-4D97-AF65-F5344CB8AC3E}">
        <p14:creationId xmlns:p14="http://schemas.microsoft.com/office/powerpoint/2010/main" val="6477535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F82AB2-14BA-43D8-BC72-C2940E9B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E8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769E8"/>
                </a:solidFill>
                <a:latin typeface="Noto Sans"/>
                <a:ea typeface="Noto Sans"/>
                <a:cs typeface="Noto Sans"/>
              </a:rPr>
              <a:t>CURRENT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F24172-9764-460A-A4E9-8F2BFAED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E38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071E38"/>
                </a:solidFill>
                <a:latin typeface="Noto Sans"/>
                <a:ea typeface="Noto Sans"/>
                <a:cs typeface="Noto Sans"/>
              </a:rPr>
              <a:t>How Tool Atlas works today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D95251-386B-4A71-93DD-295BFEAB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D6044C-A24B-4431-8AC6-A39C8329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762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86581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486581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809c855e0d4b85"/>
          <a:srcRect xmlns:a="http://schemas.openxmlformats.org/drawingml/2006/main" l="0" t="15295" r="0" b="152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371600"/>
            <a:ext cx="6553200" cy="4762500"/>
          </a:xfrm>
          <a:prstGeom xmlns:a="http://schemas.openxmlformats.org/drawingml/2006/main" prst="roundRect">
            <a:avLst>
              <a:gd name="adj" fmla="val 36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6745E1-54D9-4675-A966-347281A2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28750"/>
            <a:ext cx="2438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9E8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769E8"/>
                </a:solidFill>
                <a:latin typeface="Noto Sans"/>
                <a:ea typeface="Noto Sans"/>
                <a:cs typeface="Noto Sans"/>
              </a:rPr>
              <a:t>PUBLIC, STATIC, BACKEND FREE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3C130-F7F9-456C-B2F0-41A29996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52625"/>
            <a:ext cx="37338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02A43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102A43"/>
                </a:solidFill>
                <a:latin typeface="Noto Sans"/>
                <a:ea typeface="Noto Sans"/>
                <a:cs typeface="Noto Sans"/>
              </a:rPr>
              <a:t>The browser reads a reviewed catalog built into the site. Users search, filter, compare versions, open guides, save tools locally, and follow an approved HTTPS path.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2A4E7A-09CD-48E4-9600-E594C78C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29000"/>
            <a:ext cx="16954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F7F2"/>
          </a:solidFill>
          <a:ln xmlns:a="http://schemas.openxmlformats.org/drawingml/2006/main" w="9525">
            <a:solidFill>
              <a:srgbClr val="D8E3E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333A3D-20C1-4451-A541-97FCF793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29000"/>
            <a:ext cx="66675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8F7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0D91DD-8E3C-44F8-9FD6-2CC1F908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004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rPr>
              <a:t>Source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1DF7E2-419F-42D7-AD3A-5FC259CA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33825"/>
            <a:ext cx="137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rPr>
              <a:t>Catalog files and guides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D750DB-5080-4DEF-9A57-4ED6C45A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429000"/>
            <a:ext cx="16954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3E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4BBC5F-1E8E-440F-A529-97D83EA5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429000"/>
            <a:ext cx="66675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E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89984F-4F81-4B97-893B-ADECBE55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6004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rPr>
              <a:t>Build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C81E99-0C45-4276-93C6-C72E87DD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933825"/>
            <a:ext cx="137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rPr>
              <a:t>Validate and generate</a:t>
            </a:r>
          </a:p>
        </p:txBody>
      </p:sp>
      <p:cxnSp>
        <p:nvCxnSpPr>
          <p:cNvPr id="41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410700" y="39624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9E8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A69179-D2DF-4608-A8DA-8068B4F6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76800"/>
            <a:ext cx="16954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9525">
            <a:solidFill>
              <a:srgbClr val="D8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7D316-D622-46DD-942B-3DCBF086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76800"/>
            <a:ext cx="66675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21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69B8F6-8BE6-4581-9B47-A4A5E176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482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rPr>
              <a:t>Deploy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CB9C50-7CB1-4CD6-AF21-291E7B8B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381625"/>
            <a:ext cx="137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rPr>
              <a:t>Static bundle behind Caddy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CDDD85-E7AA-4BA6-8843-5FF68F2C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876800"/>
            <a:ext cx="16954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F7F2"/>
          </a:solidFill>
          <a:ln xmlns:a="http://schemas.openxmlformats.org/drawingml/2006/main" w="9525">
            <a:solidFill>
              <a:srgbClr val="D8E3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2554A1-2A7C-4D06-9CE1-280EB706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876800"/>
            <a:ext cx="66675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8F7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7B7F30-2751-41D3-8127-6DD6344F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0482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rPr>
              <a:t>Use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E843BC-75AF-4671-9976-D4AC24A1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381625"/>
            <a:ext cx="137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rPr>
              <a:t>Browser only, no login</a:t>
            </a:r>
          </a:p>
        </p:txBody>
      </p:sp>
      <p:cxnSp>
        <p:nvCxnSpPr>
          <p:cNvPr id="50" name=""/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9410700" y="54102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9E8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20551856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F49EAF-A4FA-4891-97BA-0FBB8B20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E8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769E8"/>
                </a:solidFill>
                <a:latin typeface="Noto Sans"/>
                <a:ea typeface="Noto Sans"/>
                <a:cs typeface="Noto Sans"/>
              </a:rPr>
              <a:t>TARGET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A8A4BE-A412-42A4-8715-1FD79976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E38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071E38"/>
                </a:solidFill>
                <a:latin typeface="Noto Sans"/>
                <a:ea typeface="Noto Sans"/>
                <a:cs typeface="Noto Sans"/>
              </a:rPr>
              <a:t>Employee user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00B1DB-8638-410B-9894-E3CBD58A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870B0-473E-4DA9-97E4-A5C5D47B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762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86581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486581"/>
                </a:solidFill>
                <a:latin typeface="Noto Sans"/>
                <a:ea typeface="Noto Sans"/>
                <a:cs typeface="Noto San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D6D930-E0D3-4556-BD02-47CAF642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196215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CEC15D-2993-48B9-BF1E-334E2C45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66675" cy="1314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E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79CDAF-A09F-4056-B5B3-75DD79F7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rPr>
              <a:t>1  Find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2EEFE1-3BEC-420A-927D-19142D24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0275"/>
            <a:ext cx="1638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rPr>
              <a:t>Search by tool, vendor, category, platform, or lifecycle.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859BCC-8249-4221-8AB3-9FFD032B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196215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9E54AA-DB89-4DF7-9209-02481857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66675" cy="1314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8F7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8E97FB-1CFF-4C74-A18D-357224C4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6690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rPr>
              <a:t>2  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C08C26-D7CF-4EE8-B191-68A04D16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00275"/>
            <a:ext cx="1638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rPr>
              <a:t>Check approved version, ownership, status, and documentation.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A9C901-FD8E-4C1D-8FB7-552EA9D2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695450"/>
            <a:ext cx="196215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E74CE8-CBAE-43A3-9B09-BD693496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695450"/>
            <a:ext cx="66675" cy="1314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21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8FA897-8B95-4B91-B34F-E621D5B0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6690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rPr>
              <a:t>3  Choose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0152C6-5448-4D82-94A0-1AF22909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200275"/>
            <a:ext cx="1638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rPr>
              <a:t>Select the delivery path assigned to that release.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6CEF64-C025-45CC-9CF7-4A6FB3D0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695450"/>
            <a:ext cx="196215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C0B105-44CD-4D7B-8737-B207A361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695450"/>
            <a:ext cx="66675" cy="1314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E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B03D02-B40D-4574-88AC-3BB77B7C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6690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rPr>
              <a:t>4  Install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03BEB5-A1A5-45B1-A217-20CDA225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00275"/>
            <a:ext cx="1638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rPr>
              <a:t>Download, open the repository link, or request help.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E0472E-7B58-4EE4-957A-3DE0FC4F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695450"/>
            <a:ext cx="1143000" cy="13144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614651-A18D-446B-8623-1972AFAC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695450"/>
            <a:ext cx="66675" cy="1314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8F7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7BE11E-C1D9-40A6-9149-9EB7A634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86690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rPr>
              <a:t>5  Get help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A040C1-5A9E-4850-B155-27B513BE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200275"/>
            <a:ext cx="819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rPr>
              <a:t>Use the guide or owner contact.</a:t>
            </a:r>
          </a:p>
        </p:txBody>
      </p:sp>
      <p:cxnSp>
        <p:nvCxnSpPr>
          <p:cNvPr id="56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705100" y="235267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9E8"/>
            </a:solidFill>
            <a:prstDash val="solid"/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105400" y="235267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9E8"/>
            </a:solidFill>
            <a:prstDash val="solid"/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505700" y="235267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9E8"/>
            </a:solidFill>
            <a:prstDash val="soli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9906000" y="235267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9E8"/>
            </a:solidFill>
            <a:prstDash val="solid"/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2C46C6-26ED-4E99-A57C-B2492CA5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10744200" cy="2171700"/>
          </a:xfrm>
          <a:prstGeom xmlns:a="http://schemas.openxmlformats.org/drawingml/2006/main" prst="roundRect">
            <a:avLst>
              <a:gd name="adj" fmla="val 87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E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7A32D6-DE6A-4C54-A22C-10FB491D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102A43"/>
                </a:solidFill>
                <a:latin typeface="Noto Sans"/>
                <a:ea typeface="Noto Sans"/>
                <a:cs typeface="Noto Sans"/>
              </a:rPr>
              <a:t>What the user should always see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461568-ABD2-4864-89FD-3A1D62BF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8679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900"/>
              </a:spcAft>
              <a:buChar char="•"/>
              <a:defRPr sz="1350" b="0">
                <a:solidFill>
                  <a:srgbClr val="102A43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102A43"/>
                </a:solidFill>
                <a:latin typeface="Noto Sans"/>
                <a:ea typeface="Noto Sans"/>
                <a:cs typeface="Noto Sans"/>
              </a:rPr>
              <a:t>The approved version and platform before any action</a:t>
            </a:r>
          </a:p>
          <a:p xmlns:a="http://schemas.openxmlformats.org/drawingml/2006/main">
            <a:pPr marL="228600" indent="-114300" algn="l">
              <a:spcAft>
                <a:spcPts val="900"/>
              </a:spcAft>
              <a:buChar char="•"/>
              <a:defRPr sz="1350" b="0">
                <a:solidFill>
                  <a:srgbClr val="102A43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102A43"/>
                </a:solidFill>
                <a:latin typeface="Noto Sans"/>
                <a:ea typeface="Noto Sans"/>
                <a:cs typeface="Noto Sans"/>
              </a:rPr>
              <a:t>A clear action label: Download, Open repository, or Contact support</a:t>
            </a:r>
          </a:p>
          <a:p xmlns:a="http://schemas.openxmlformats.org/drawingml/2006/main">
            <a:pPr marL="228600" indent="-114300" algn="l">
              <a:spcAft>
                <a:spcPts val="900"/>
              </a:spcAft>
              <a:buChar char="•"/>
              <a:defRPr sz="1350" b="0">
                <a:solidFill>
                  <a:srgbClr val="102A43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102A43"/>
                </a:solidFill>
                <a:latin typeface="Noto Sans"/>
                <a:ea typeface="Noto Sans"/>
                <a:cs typeface="Noto Sans"/>
              </a:rPr>
              <a:t>Installation guidance and a named support owner</a:t>
            </a:r>
          </a:p>
          <a:p xmlns:a="http://schemas.openxmlformats.org/drawingml/2006/main">
            <a:pPr marL="228600" indent="-114300" algn="l">
              <a:spcAft>
                <a:spcPts val="900"/>
              </a:spcAft>
              <a:buChar char="•"/>
              <a:defRPr sz="1350" b="0">
                <a:solidFill>
                  <a:srgbClr val="102A43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102A43"/>
                </a:solidFill>
                <a:latin typeface="Noto Sans"/>
                <a:ea typeface="Noto Sans"/>
                <a:cs typeface="Noto Sans"/>
              </a:rPr>
              <a:t>A visible warning when a release is legacy, retired, or temporarily unavailable</a:t>
            </a:r>
          </a:p>
        </p:txBody>
      </p:sp>
    </p:spTree>
    <p:extLst>
      <p:ext uri="{BB962C8B-B14F-4D97-AF65-F5344CB8AC3E}">
        <p14:creationId xmlns:p14="http://schemas.microsoft.com/office/powerpoint/2010/main" val="14615867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7FFF54-EEA2-42F1-B920-ACCC03D7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E8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769E8"/>
                </a:solidFill>
                <a:latin typeface="Noto Sans"/>
                <a:ea typeface="Noto Sans"/>
                <a:cs typeface="Noto Sans"/>
              </a:rPr>
              <a:t>STORAGE AND FULFILLMENT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52B09-4654-4236-92B1-53DAE08A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E38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071E38"/>
                </a:solidFill>
                <a:latin typeface="Noto Sans"/>
                <a:ea typeface="Noto Sans"/>
                <a:cs typeface="Noto Sans"/>
              </a:rPr>
              <a:t>Three software delivery modes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A6A025-D1E5-4B7D-801A-49582F36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499BE9-0B98-46F5-AC82-E8673119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762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86581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486581"/>
                </a:solidFill>
                <a:latin typeface="Noto Sans"/>
                <a:ea typeface="Noto Sans"/>
                <a:cs typeface="Noto San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E8ABB9-DBB2-47FF-A150-1736F21F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524000"/>
            <a:ext cx="2609850" cy="8382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071E3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FDAE5A-8474-4679-9AD9-79452A33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169545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Approved release record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938071-C49E-4147-8548-304E92EC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019300"/>
            <a:ext cx="2419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7D7E8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C7D7E8"/>
                </a:solidFill>
                <a:latin typeface="Noto Sans"/>
                <a:ea typeface="Noto Sans"/>
                <a:cs typeface="Noto Sans"/>
              </a:rPr>
              <a:t>Version + delivery mode + destination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94819F-FED0-4A9B-9579-020ED27E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31432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3E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313060-6E75-4BBE-9178-67209CCF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66675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E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1D31CC-5D8F-46BC-BABB-CF1ECD16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rPr>
              <a:t>Local package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563151-52BE-4694-AA1A-595D44A4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38575"/>
            <a:ext cx="28194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rPr>
              <a:t>The website server or a dedicated internal package volume serves the approved file. Best for controlled internal distribution when the team owns patching and capacity.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9C5DC5-93B9-4ED8-9966-D0D73FD4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33750"/>
            <a:ext cx="31432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8F7F2"/>
          </a:solidFill>
          <a:ln xmlns:a="http://schemas.openxmlformats.org/drawingml/2006/main" w="9525">
            <a:solidFill>
              <a:srgbClr val="D8E3E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126EDB-5327-44DE-BB69-A728AC0B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33750"/>
            <a:ext cx="66675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8F7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694E1B-CE68-4132-B5C8-FC44810F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5052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rPr>
              <a:t>External repository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7D7526-7E6F-408F-96EA-CAD40011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838575"/>
            <a:ext cx="28194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rPr>
              <a:t>The release points to an approved HTTPS address such as Artifactory. The repository owns binary storage, access policy, checksums, and retention.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59C429-F6D8-4792-8B93-8FD0AB95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33750"/>
            <a:ext cx="31432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9525">
            <a:solidFill>
              <a:srgbClr val="D8E3E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492BB5-A57B-4906-A146-BEE3B31B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33750"/>
            <a:ext cx="66675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21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C339E8-58E6-4ECF-9394-27314354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052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rPr>
              <a:t>Contact or guide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0C98BF-A539-482F-A11C-C1E87EC1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38575"/>
            <a:ext cx="28194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rPr>
              <a:t>The action opens support contact instructions or an installation guide. Use this for licensed, restricted, assisted, or manually provisioned software.</a:t>
            </a:r>
          </a:p>
        </p:txBody>
      </p:sp>
      <p:cxnSp>
        <p:nvCxnSpPr>
          <p:cNvPr id="43" name=""/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2314575" y="2362200"/>
            <a:ext cx="3781425" cy="9715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769E8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5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6096000" y="2362200"/>
            <a:ext cx="0" cy="971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A8F7A"/>
            </a:solidFill>
            <a:prstDash val="soli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6096000" y="2362200"/>
            <a:ext cx="3781425" cy="9715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F4A21B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CCDD82-9A5A-46E8-B4E5-C5A72E77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0198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E38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071E38"/>
                </a:solidFill>
                <a:latin typeface="Noto Sans"/>
                <a:ea typeface="Noto Sans"/>
                <a:cs typeface="Noto Sans"/>
              </a:rPr>
              <a:t>Recommended schema: each release declares exactly one delivery mode.</a:t>
            </a:r>
          </a:p>
        </p:txBody>
      </p:sp>
    </p:spTree>
    <p:extLst>
      <p:ext uri="{BB962C8B-B14F-4D97-AF65-F5344CB8AC3E}">
        <p14:creationId xmlns:p14="http://schemas.microsoft.com/office/powerpoint/2010/main" val="11556809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0F2F79-4D63-4049-8896-29B7E8AB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E8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769E8"/>
                </a:solidFill>
                <a:latin typeface="Noto Sans"/>
                <a:ea typeface="Noto Sans"/>
                <a:cs typeface="Noto Sans"/>
              </a:rPr>
              <a:t>DECISION RULES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0FAE15-1E7C-45A4-BB18-C302712C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E38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071E38"/>
                </a:solidFill>
                <a:latin typeface="Noto Sans"/>
                <a:ea typeface="Noto Sans"/>
                <a:cs typeface="Noto Sans"/>
              </a:rPr>
              <a:t>Delivery-mode policy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7D11EE-4722-4151-8238-A40D084C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91D854-A1CE-48EA-B1DA-C27BDDDF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762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86581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486581"/>
                </a:solidFill>
                <a:latin typeface="Noto Sans"/>
                <a:ea typeface="Noto Sans"/>
                <a:cs typeface="Noto San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AD2562-A823-4D90-B502-F2111F6C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3200400" cy="4533900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6D56C9-0859-4A67-A257-BF2DCB66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32004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E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C0A487-6BA0-4B8D-A540-2C54E65E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102A43"/>
                </a:solidFill>
                <a:latin typeface="Noto Sans"/>
                <a:ea typeface="Noto Sans"/>
                <a:cs typeface="Noto Sans"/>
              </a:rPr>
              <a:t>Local package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4907E8-0D18-4729-B0BA-A2E2A8D1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1466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CHOOSE WHEN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3F03D5-B0ED-4C59-B7C3-9014C46D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67000"/>
            <a:ext cx="2705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486581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486581"/>
                </a:solidFill>
                <a:latin typeface="Noto Sans"/>
                <a:ea typeface="Noto Sans"/>
                <a:cs typeface="Noto Sans"/>
              </a:rPr>
              <a:t>The organization owns redistribution and needs a controlled internal file.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457E9F-2AC1-4C21-BC1A-EFC759AC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E8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1769E8"/>
                </a:solidFill>
                <a:latin typeface="Noto Sans"/>
                <a:ea typeface="Noto Sans"/>
                <a:cs typeface="Noto Sans"/>
              </a:rPr>
              <a:t>Primary owner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72FE1B-5B04-4C5B-A5DF-A75D9086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29075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102A43"/>
                </a:solidFill>
                <a:latin typeface="Noto Sans"/>
                <a:ea typeface="Noto Sans"/>
                <a:cs typeface="Noto Sans"/>
              </a:rPr>
              <a:t>Platform team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F88DAA-6FAB-4119-8339-8169B1C2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910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E8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1769E8"/>
                </a:solidFill>
                <a:latin typeface="Noto Sans"/>
                <a:ea typeface="Noto Sans"/>
                <a:cs typeface="Noto Sans"/>
              </a:rPr>
              <a:t>Required controls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A71784-C178-4E96-87E7-DF11DAD5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95850"/>
            <a:ext cx="2705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486581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486581"/>
                </a:solidFill>
                <a:latin typeface="Noto Sans"/>
                <a:ea typeface="Noto Sans"/>
                <a:cs typeface="Noto Sans"/>
              </a:rPr>
              <a:t>Checksum, malware scan, capacity, backup, retention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0C3A88-D82F-47CE-99A6-327AB4D8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447800"/>
            <a:ext cx="3200400" cy="4533900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4354B6-23CD-4967-A3C4-A959A01F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447800"/>
            <a:ext cx="32004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8F7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43D091-36CB-4F1B-A4C8-DF6B5BC3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695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102A43"/>
                </a:solidFill>
                <a:latin typeface="Noto Sans"/>
                <a:ea typeface="Noto Sans"/>
                <a:cs typeface="Noto Sans"/>
              </a:rPr>
              <a:t>External repository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32F6D8-19E1-412D-9CC2-17AE3B43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171700"/>
            <a:ext cx="1466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8F7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PREFERRED DEFAULT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25F246-C157-480C-9484-455EB81E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67000"/>
            <a:ext cx="2705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486581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486581"/>
                </a:solidFill>
                <a:latin typeface="Noto Sans"/>
                <a:ea typeface="Noto Sans"/>
                <a:cs typeface="Noto Sans"/>
              </a:rPr>
              <a:t>An approved repository already manages binaries and access.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389CDF-444A-4AA3-9632-D1D85A92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7528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8F7A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0A8F7A"/>
                </a:solidFill>
                <a:latin typeface="Noto Sans"/>
                <a:ea typeface="Noto Sans"/>
                <a:cs typeface="Noto Sans"/>
              </a:rPr>
              <a:t>Primary owner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9C118C-46BD-4CE6-89C8-3F2B12D4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029075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102A43"/>
                </a:solidFill>
                <a:latin typeface="Noto Sans"/>
                <a:ea typeface="Noto Sans"/>
                <a:cs typeface="Noto Sans"/>
              </a:rPr>
              <a:t>Repository owner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A06028-4BC3-4BCA-AF22-AFCE60B7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910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8F7A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0A8F7A"/>
                </a:solidFill>
                <a:latin typeface="Noto Sans"/>
                <a:ea typeface="Noto Sans"/>
                <a:cs typeface="Noto Sans"/>
              </a:rPr>
              <a:t>Required controls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8D7E2A-B6F6-414C-9A1F-8492ED7A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95850"/>
            <a:ext cx="2705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486581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486581"/>
                </a:solidFill>
                <a:latin typeface="Noto Sans"/>
                <a:ea typeface="Noto Sans"/>
                <a:cs typeface="Noto Sans"/>
              </a:rPr>
              <a:t>HTTPS allowlist, immutable version, checksum, availability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2AB11A-E1FB-4241-A85D-8F1D61EF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447800"/>
            <a:ext cx="3200400" cy="4533900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BE68A8-EDE6-4241-A889-22000596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447800"/>
            <a:ext cx="32004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21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8CBF3A-AF64-419C-9024-46F44A1F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695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102A43"/>
                </a:solidFill>
                <a:latin typeface="Noto Sans"/>
                <a:ea typeface="Noto Sans"/>
                <a:cs typeface="Noto Sans"/>
              </a:rPr>
              <a:t>Contact or guide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77138A-E85D-4B53-AF70-F6732EA1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71700"/>
            <a:ext cx="1466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21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CHOOSE WHEN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40B7F0-AF3F-49BB-81B4-AC084CB2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67000"/>
            <a:ext cx="2705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486581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486581"/>
                </a:solidFill>
                <a:latin typeface="Noto Sans"/>
                <a:ea typeface="Noto Sans"/>
                <a:cs typeface="Noto Sans"/>
              </a:rPr>
              <a:t>Licensing or installation requires human approval or assisted setup.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A205B6-3D64-4E2F-AB3E-20DB0185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528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A21B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F4A21B"/>
                </a:solidFill>
                <a:latin typeface="Noto Sans"/>
                <a:ea typeface="Noto Sans"/>
                <a:cs typeface="Noto Sans"/>
              </a:rPr>
              <a:t>Primary owner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05E4A3-48AB-42B7-93DE-AEFA423E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29075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102A43"/>
                </a:solidFill>
                <a:latin typeface="Noto Sans"/>
                <a:ea typeface="Noto Sans"/>
                <a:cs typeface="Noto Sans"/>
              </a:rPr>
              <a:t>Support owner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04AB95-3CC7-4C98-A1C2-0611046F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5910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A21B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F4A21B"/>
                </a:solidFill>
                <a:latin typeface="Noto Sans"/>
                <a:ea typeface="Noto Sans"/>
                <a:cs typeface="Noto Sans"/>
              </a:rPr>
              <a:t>Required controls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BCDDCA-9E82-4C71-93FD-BE514EE7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895850"/>
            <a:ext cx="2705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486581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486581"/>
                </a:solidFill>
                <a:latin typeface="Noto Sans"/>
                <a:ea typeface="Noto Sans"/>
                <a:cs typeface="Noto Sans"/>
              </a:rPr>
              <a:t>Contact route, guide review, response target, fallback</a:t>
            </a:r>
          </a:p>
        </p:txBody>
      </p:sp>
    </p:spTree>
    <p:extLst>
      <p:ext uri="{BB962C8B-B14F-4D97-AF65-F5344CB8AC3E}">
        <p14:creationId xmlns:p14="http://schemas.microsoft.com/office/powerpoint/2010/main" val="18422719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AEE59E-B8F8-4AB1-8F3C-208F910E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E8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769E8"/>
                </a:solidFill>
                <a:latin typeface="Noto Sans"/>
                <a:ea typeface="Noto Sans"/>
                <a:cs typeface="Noto Sans"/>
              </a:rPr>
              <a:t>REVIEW AND PUBLICATION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70153F-9727-4471-920A-DE7B1A6E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E38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071E38"/>
                </a:solidFill>
                <a:latin typeface="Noto Sans"/>
                <a:ea typeface="Noto Sans"/>
                <a:cs typeface="Noto Sans"/>
              </a:rPr>
              <a:t>Administration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5632D4-4637-448C-B97E-92E88380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A90D1E-C8D7-446F-A894-23D63899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762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86581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486581"/>
                </a:solidFill>
                <a:latin typeface="Noto Sans"/>
                <a:ea typeface="Noto Sans"/>
                <a:cs typeface="Noto San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8D37A9-1CCA-4D36-A8EB-F0C84D01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82880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470B8A-1731-426E-80EE-614F8B81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66675" cy="1466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E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3229B2-0B9E-4289-8C07-A79D292B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621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rPr>
              <a:t>1  Submit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B97227-EAA8-4D4E-BC18-8BCBD9DA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95525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rPr>
              <a:t>New software, release, correction, or retirement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EBF8E4-6BF6-4A4B-B1E6-C780EB22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790700"/>
            <a:ext cx="182880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ABB108-2E40-4BEE-9E6D-5125BC3E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790700"/>
            <a:ext cx="66675" cy="1466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8F7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A842A6-511B-4DFB-B77D-090BB920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621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rPr>
              <a:t>2  Triage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BF6C06-F41A-407E-9064-9BF71A7C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95525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rPr>
              <a:t>Confirm scope, owner, category, and delivery mode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89BA65-EE84-4095-A0CD-7AD52FC0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82880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672375-17FF-46AC-92E3-93FBBCD6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66675" cy="1466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E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F7E878-1717-46B4-A762-B739A70A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9621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rPr>
              <a:t>3  Validate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F64CFB-F09D-4FCA-8035-9FFAF29B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95525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rPr>
              <a:t>Check URLs, guide, metadata, safety, and generated output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B6D1A5-8BE5-46E8-A22F-4B4C64BA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90700"/>
            <a:ext cx="182880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9525">
            <a:solidFill>
              <a:srgbClr val="D8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A67B7C-5B0A-446D-A722-9794D10E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90700"/>
            <a:ext cx="66675" cy="1466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21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15CA52-8AC5-4685-B57A-52D92ED1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9621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rPr>
              <a:t>4  Approve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3B4AD6-551B-4F68-920D-636426E0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95525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rPr>
              <a:t>Authorized maintainer records the publication decision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DF2A15-7A7C-449E-AC51-5B778080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90700"/>
            <a:ext cx="182880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3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9A1902-95D7-4310-97DB-5E7388F7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90700"/>
            <a:ext cx="66675" cy="1466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E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5026A7-8743-4373-9ACD-552304A5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9621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rPr>
              <a:t>5  Publish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89637B-653A-466D-8B3E-2D012DD5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295525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rPr>
              <a:t>Merge reviewed content, deploy, and verify the live result</a:t>
            </a:r>
          </a:p>
        </p:txBody>
      </p:sp>
      <p:cxnSp>
        <p:nvCxnSpPr>
          <p:cNvPr id="56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514600" y="252412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9E8"/>
            </a:solidFill>
            <a:prstDash val="solid"/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762500" y="252412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9E8"/>
            </a:solidFill>
            <a:prstDash val="solid"/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010400" y="252412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9E8"/>
            </a:solidFill>
            <a:prstDash val="soli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9258300" y="252412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9E8"/>
            </a:solidFill>
            <a:prstDash val="solid"/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562EB8-2A1C-40A6-A174-21FB7829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10820400" cy="18859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71E38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A1983C-F9DB-417A-AEEF-83E097D9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5765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Approval boundary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6E5C21-5DF3-4477-BE2F-68869123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43425"/>
            <a:ext cx="9791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D8E7F5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D8E7F5"/>
                </a:solidFill>
                <a:latin typeface="Noto Sans"/>
                <a:ea typeface="Noto Sans"/>
                <a:cs typeface="Noto Sans"/>
              </a:rPr>
              <a:t>A submission never changes production directly. Approval creates a reviewable branch or change request. A second reviewer confirms the generated catalog, destination, and guide before merge.</a:t>
            </a:r>
          </a:p>
        </p:txBody>
      </p:sp>
    </p:spTree>
    <p:extLst>
      <p:ext uri="{BB962C8B-B14F-4D97-AF65-F5344CB8AC3E}">
        <p14:creationId xmlns:p14="http://schemas.microsoft.com/office/powerpoint/2010/main" val="18988461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BEA995-20CE-4C45-9736-CB5289E2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E8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769E8"/>
                </a:solidFill>
                <a:latin typeface="Noto Sans"/>
                <a:ea typeface="Noto Sans"/>
                <a:cs typeface="Noto Sans"/>
              </a:rPr>
              <a:t>HOW CHANGES ENTER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880255-D366-4B42-B9BD-D9DE9FDD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E38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071E38"/>
                </a:solidFill>
                <a:latin typeface="Noto Sans"/>
                <a:ea typeface="Noto Sans"/>
                <a:cs typeface="Noto Sans"/>
              </a:rPr>
              <a:t>Three contribution channels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8F7CF3-71B0-4C11-80F6-0C3DFC31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07066A-ACEA-4C0F-A04E-E29198AE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762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86581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486581"/>
                </a:solidFill>
                <a:latin typeface="Noto Sans"/>
                <a:ea typeface="Noto Sans"/>
                <a:cs typeface="Noto San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1A1D88-4752-497E-9730-065AB0DC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3162300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9525">
            <a:solidFill>
              <a:srgbClr val="D8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910AD7-EC81-467F-8445-968FE615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66675" cy="1790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21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09B8A-122D-4E88-9146-F92C4E7C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rPr>
              <a:t>Developer page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EC92C5-5AB7-46B1-A254-790592B0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85975"/>
            <a:ext cx="28384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rPr>
              <a:t>A hidden internal form submits structured content through a server-side endpoint. The browser must never contain a repository token.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C147B2-BCF0-4507-8EC3-AA1D7F30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81150"/>
            <a:ext cx="3162300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BA364E-C250-4517-B235-3BEB1308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81150"/>
            <a:ext cx="66675" cy="1790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E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A9E8EB-F995-4102-AA43-66D46BB1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75260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rPr>
              <a:t>Interactive CLI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5CAD57-F3E9-42E2-A5CB-461A4757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85975"/>
            <a:ext cx="28384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rPr>
              <a:t>The existing pnpm catalog:add command asks questions, writes source files, regenerates data, and leaves the contributor with a normal Git review.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E8561F-7ADF-433E-B56E-259C2F26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81150"/>
            <a:ext cx="3162300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8F7F2"/>
          </a:solidFill>
          <a:ln xmlns:a="http://schemas.openxmlformats.org/drawingml/2006/main" w="9525">
            <a:solidFill>
              <a:srgbClr val="D8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EED360-4E46-47EE-89E7-F71CAAB2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81150"/>
            <a:ext cx="66675" cy="1790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8F7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9A1FAB-B5C7-4709-8513-8176815A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5260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rPr>
              <a:t>GitHub or GitLab issue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ECF170-76AE-4FDD-9F3E-3791A66B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85975"/>
            <a:ext cx="28384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rPr>
              <a:t>A non-code contributor completes a form. A maintainer approves it, automation validates it, and then opens a pull or merge request.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296571-3B02-4341-BEA2-6D484D47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71950"/>
            <a:ext cx="5905500" cy="933450"/>
          </a:xfrm>
          <a:prstGeom xmlns:a="http://schemas.openxmlformats.org/drawingml/2006/main" prst="roundRect">
            <a:avLst>
              <a:gd name="adj" fmla="val 22449"/>
            </a:avLst>
          </a:prstGeom>
          <a:solidFill xmlns:a="http://schemas.openxmlformats.org/drawingml/2006/main">
            <a:srgbClr val="071E3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E6A3C0-9CE8-40C1-B666-02DA7FA5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343400"/>
            <a:ext cx="544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One validation and approval pipeline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D0704E-9441-4717-880D-6BD04609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24400"/>
            <a:ext cx="544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7D7E8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C7D7E8"/>
                </a:solidFill>
                <a:latin typeface="Noto Sans"/>
                <a:ea typeface="Noto Sans"/>
                <a:cs typeface="Noto Sans"/>
              </a:rPr>
              <a:t>All channels produce the same catalog source and pass the same checks.</a:t>
            </a:r>
          </a:p>
        </p:txBody>
      </p:sp>
      <p:cxnSp>
        <p:nvCxnSpPr>
          <p:cNvPr id="44" name=""/>
          <p:cNvCxnSpPr>
            <a:stCxn xmlns:a="http://schemas.openxmlformats.org/drawingml/2006/main" id="5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2286000" y="3371850"/>
            <a:ext cx="3810000" cy="800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F4A21B"/>
            </a:solidFill>
            <a:prstDash val="soli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9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096000" y="3371850"/>
            <a:ext cx="0" cy="800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9E8"/>
            </a:solidFill>
            <a:prstDash val="solid"/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13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6096000" y="3371850"/>
            <a:ext cx="3810000" cy="800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A8F7A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D59BEA-6AA8-410B-8851-9C750239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29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8F7A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0A8F7A"/>
                </a:solidFill>
                <a:latin typeface="Noto Sans"/>
                <a:ea typeface="Noto Sans"/>
                <a:cs typeface="Noto Sans"/>
              </a:rPr>
              <a:t>Current: CLI and issue-based automation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938361-47C4-4DA3-AF7D-C117E7EE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8293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4A21B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F4A21B"/>
                </a:solidFill>
                <a:latin typeface="Noto Sans"/>
                <a:ea typeface="Noto Sans"/>
                <a:cs typeface="Noto Sans"/>
              </a:rPr>
              <a:t>Proposed: hidden developer page with server-side credential handling</a:t>
            </a:r>
          </a:p>
        </p:txBody>
      </p:sp>
    </p:spTree>
    <p:extLst>
      <p:ext uri="{BB962C8B-B14F-4D97-AF65-F5344CB8AC3E}">
        <p14:creationId xmlns:p14="http://schemas.microsoft.com/office/powerpoint/2010/main" val="4808386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BCE241-07A5-4F47-AFC2-3503076E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E8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769E8"/>
                </a:solidFill>
                <a:latin typeface="Noto Sans"/>
                <a:ea typeface="Noto Sans"/>
                <a:cs typeface="Noto Sans"/>
              </a:rPr>
              <a:t>PROPOSED SECURITY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5F63E4-6819-4439-A083-940743CF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E38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071E38"/>
                </a:solidFill>
                <a:latin typeface="Noto Sans"/>
                <a:ea typeface="Noto Sans"/>
                <a:cs typeface="Noto Sans"/>
              </a:rPr>
              <a:t>Hidden developer page and token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3F1CEF-57BC-486D-AB6D-56564DCE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DDD789-8585-49BD-A40D-B07CB7B1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762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86581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486581"/>
                </a:solidFill>
                <a:latin typeface="Noto Sans"/>
                <a:ea typeface="Noto Sans"/>
                <a:cs typeface="Noto San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160DBD-A9A1-41BA-B4C7-1597BE34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4193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B871A4-E5D9-43BA-B3DF-CB727CFD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E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9C37E6-8B53-4DA4-8502-5727F281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81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rPr>
              <a:t>Internal browser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3DE5A7-7E6F-48A7-8792-288CAB77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14575"/>
            <a:ext cx="209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rPr>
              <a:t>Authenticated user completes the structured form. The page receives no Git or repository token.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081D74-0417-480C-B349-468A038E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809750"/>
            <a:ext cx="25146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9525">
            <a:solidFill>
              <a:srgbClr val="D8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8E103A-821A-4C57-9FE6-325C7B3A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809750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21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7EBB71-7EFB-4BD4-AA41-9FE02FC6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81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rPr>
              <a:t>Submission 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C292B4-CE51-4C17-BBFE-34FB6164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14575"/>
            <a:ext cx="2190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rPr>
              <a:t>Validates identity, rate limits requests, records audit context, and queues a change.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EBB325-279B-4655-9595-3AF2BD0E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09750"/>
            <a:ext cx="24193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8F7F2"/>
          </a:solidFill>
          <a:ln xmlns:a="http://schemas.openxmlformats.org/drawingml/2006/main" w="9525">
            <a:solidFill>
              <a:srgbClr val="D8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B19D46-90C9-4A6B-838A-86D7D2C6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09750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8F7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C67C6D-F76F-47A6-BB17-8743A6FF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981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rPr>
              <a:t>Git provider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F72ADE-5EF4-4428-B25A-8BF5311C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14575"/>
            <a:ext cx="209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rPr>
              <a:t>A narrowly scoped service credential creates a branch and pull or merge request.</a:t>
            </a:r>
          </a:p>
        </p:txBody>
      </p:sp>
      <p:cxnSp>
        <p:nvCxnSpPr>
          <p:cNvPr id="38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81350" y="2524125"/>
            <a:ext cx="1657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9E8"/>
            </a:solidFill>
            <a:prstDash val="soli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353300" y="2524125"/>
            <a:ext cx="1657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9E8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520B2B-229F-40C2-98F5-ED33246F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0668000" cy="16192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CECEB"/>
          </a:solidFill>
          <a:ln xmlns:a="http://schemas.openxmlformats.org/drawingml/2006/main" w="9525">
            <a:solidFill>
              <a:srgbClr val="F0C4C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E9578C-989A-4398-9991-6E02E52A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1005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84A43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C84A43"/>
                </a:solidFill>
                <a:latin typeface="Noto Sans"/>
                <a:ea typeface="Noto Sans"/>
                <a:cs typeface="Noto Sans"/>
              </a:rPr>
              <a:t>Do not ship a reusable token in JavaScript, localStorage, a URL, or a hidden field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1EAB4A-5A5E-42A1-8F75-B2C95515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67250"/>
            <a:ext cx="979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102A43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102A43"/>
                </a:solidFill>
                <a:latin typeface="Noto Sans"/>
                <a:ea typeface="Noto Sans"/>
                <a:cs typeface="Noto Sans"/>
              </a:rPr>
              <a:t>If the website remains fully static, route the form to the issue workflow or remove the token-based page. A true token-backed form requires a private server-side component, authentication, secret storage, rotation, logging, and incident response.</a:t>
            </a:r>
          </a:p>
        </p:txBody>
      </p:sp>
    </p:spTree>
    <p:extLst>
      <p:ext uri="{BB962C8B-B14F-4D97-AF65-F5344CB8AC3E}">
        <p14:creationId xmlns:p14="http://schemas.microsoft.com/office/powerpoint/2010/main" val="1858961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9B71A0-E86C-4356-AB72-17672171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E8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769E8"/>
                </a:solidFill>
                <a:latin typeface="Noto Sans"/>
                <a:ea typeface="Noto Sans"/>
                <a:cs typeface="Noto Sans"/>
              </a:rPr>
              <a:t>OWNERSHIP AND CADENCE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7B157B-2DB3-4E5C-9498-4B54129A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E38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071E38"/>
                </a:solidFill>
                <a:latin typeface="Noto Sans"/>
                <a:ea typeface="Noto Sans"/>
                <a:cs typeface="Noto Sans"/>
              </a:rPr>
              <a:t>Maintenance operating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B70C15-0CB9-4A90-AD01-A5160213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97A454-274E-4506-B50F-019FA1D0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762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86581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486581"/>
                </a:solidFill>
                <a:latin typeface="Noto Sans"/>
                <a:ea typeface="Noto Sans"/>
                <a:cs typeface="Noto San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02E696-75FC-418D-9FAC-172DC6F3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47800"/>
            <a:ext cx="10668000" cy="8001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E3A33E-CF26-4FAA-B1E2-E794457D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47800"/>
            <a:ext cx="1447800" cy="8001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769E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FAE9B0-CC0D-4198-8BD8-6139DF19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76400"/>
            <a:ext cx="118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Weekly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F8C673-5DB1-419F-9B08-F7FF2D67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581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02A43"/>
                </a:solidFill>
                <a:latin typeface="Noto Sans"/>
                <a:ea typeface="Noto Sans"/>
                <a:cs typeface="Noto Sans"/>
              </a:rPr>
              <a:t>Content operations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5270A7-70B2-4206-938B-443EA33D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581150"/>
            <a:ext cx="584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486581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486581"/>
                </a:solidFill>
                <a:latin typeface="Noto Sans"/>
                <a:ea typeface="Noto Sans"/>
                <a:cs typeface="Noto Sans"/>
              </a:rPr>
              <a:t>Review submissions, failed automation, broken links, support-owner changes, and urgent notices.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3D7F17-0F99-4D50-8AE2-81BC00B7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0668000" cy="8001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D99067-8230-4D06-99D2-A6104749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447800" cy="8001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A8F7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132433-199F-4896-9157-F68F72BF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05100"/>
            <a:ext cx="118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Monthly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643631-314A-4806-8C06-1BA1D9E8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09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02A43"/>
                </a:solidFill>
                <a:latin typeface="Noto Sans"/>
                <a:ea typeface="Noto Sans"/>
                <a:cs typeface="Noto Sans"/>
              </a:rPr>
              <a:t>Catalog quality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8BDB10-768E-4E6E-AF15-19BB09AD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09850"/>
            <a:ext cx="584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486581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486581"/>
                </a:solidFill>
                <a:latin typeface="Noto Sans"/>
                <a:ea typeface="Noto Sans"/>
                <a:cs typeface="Noto Sans"/>
              </a:rPr>
              <a:t>Check stale versions, contact routes, taxonomy consistency, download destinations, and storage growth.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9DC71B-ECCD-4C5B-AA9E-D55576F1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10668000" cy="8001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C371E3-B4CF-4B57-B986-D08E71ED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1447800" cy="8001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4A21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F6E644-AF56-448D-A4B2-58FA2772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118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Quarterly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74EF19-381B-4063-9272-275708C1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38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02A43"/>
                </a:solidFill>
                <a:latin typeface="Noto Sans"/>
                <a:ea typeface="Noto Sans"/>
                <a:cs typeface="Noto Sans"/>
              </a:rPr>
              <a:t>Platform and access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9B1074-A805-46AB-BC35-BC19998B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38550"/>
            <a:ext cx="584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486581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486581"/>
                </a:solidFill>
                <a:latin typeface="Noto Sans"/>
                <a:ea typeface="Noto Sans"/>
                <a:cs typeface="Noto Sans"/>
              </a:rPr>
              <a:t>Patch images and dependencies, test restore procedures, review approvers, and rotate expiring credentials.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5AE111-198E-4CFB-AFCD-4E5B6609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33900"/>
            <a:ext cx="10668000" cy="8001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B8E459-507F-4BE4-8085-683173D9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33900"/>
            <a:ext cx="1447800" cy="8001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71E3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958FD8-ABAE-4115-BB57-F0BE5F3E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118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Annually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FBBB5B-8162-48AB-8534-A617328A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67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02A43"/>
                </a:solidFill>
                <a:latin typeface="Noto Sans"/>
                <a:ea typeface="Noto Sans"/>
                <a:cs typeface="Noto Sans"/>
              </a:rPr>
              <a:t>Policy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8E34BD-9869-4766-AF19-CC5A3B23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667250"/>
            <a:ext cx="584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486581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486581"/>
                </a:solidFill>
                <a:latin typeface="Noto Sans"/>
                <a:ea typeface="Noto Sans"/>
                <a:cs typeface="Noto Sans"/>
              </a:rPr>
              <a:t>Review retention, licensing and redistribution rules, supported delivery modes, owners, and disaster-recovery targets.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250FBC-B6B3-4571-8E86-6A0EE809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912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E38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071E38"/>
                </a:solidFill>
                <a:latin typeface="Noto Sans"/>
                <a:ea typeface="Noto Sans"/>
                <a:cs typeface="Noto Sans"/>
              </a:rPr>
              <a:t>Suggested accountability: Product owner for catalog policy, content maintainers for approvals, platform owner for hosting and storage, and tool owners for release accuracy.</a:t>
            </a:r>
          </a:p>
        </p:txBody>
      </p:sp>
    </p:spTree>
    <p:extLst>
      <p:ext uri="{BB962C8B-B14F-4D97-AF65-F5344CB8AC3E}">
        <p14:creationId xmlns:p14="http://schemas.microsoft.com/office/powerpoint/2010/main" val="6931959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E298E7-3BFB-453E-BBB4-5062C1D8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E8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769E8"/>
                </a:solidFill>
                <a:latin typeface="Noto Sans"/>
                <a:ea typeface="Noto Sans"/>
                <a:cs typeface="Noto Sans"/>
              </a:rPr>
              <a:t>OPERATIONAL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49FD50-AE79-427D-8449-FE243DDE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E38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071E38"/>
                </a:solidFill>
                <a:latin typeface="Noto Sans"/>
                <a:ea typeface="Noto Sans"/>
                <a:cs typeface="Noto Sans"/>
              </a:rPr>
              <a:t>Storage, backup, and recovery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9CFCEE-8456-490D-9109-A6CE6C3E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B46C11-592E-404E-A882-FE7D9ABF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762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86581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486581"/>
                </a:solidFill>
                <a:latin typeface="Noto Sans"/>
                <a:ea typeface="Noto Sans"/>
                <a:cs typeface="Noto San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A8FFF-FD92-4AC0-8354-6C66FD2C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232410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75DF88-E766-4607-B175-583435D4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66675" cy="1219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E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59F9EF-9437-4301-BB68-8F2A2634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rPr>
              <a:t>Catalog 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736879-9295-42F5-AD37-1B15EC11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rPr>
              <a:t>Git stores metadata, guides, configuration, and review history.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AC380F-FE77-4253-9429-670805EC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232410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7F2"/>
          </a:solidFill>
          <a:ln xmlns:a="http://schemas.openxmlformats.org/drawingml/2006/main" w="9525">
            <a:solidFill>
              <a:srgbClr val="D8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CB63A7-F405-4EFA-A97B-3312FA22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66675" cy="1219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8F7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13C1BF-1AE8-460B-8AFE-4BBF3688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909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rPr>
              <a:t>Software binaries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43129D-772C-4EAD-AFDD-BA6C3B41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24275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rPr>
              <a:t>Local package volume or external repository. Do not put large binaries in normal Git history.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AFA19B-F576-4F4A-B492-231767F3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232410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9525">
            <a:solidFill>
              <a:srgbClr val="D8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834747-87AA-49DE-940B-C8AD5164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66675" cy="1219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21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8C1E75-F131-49D2-9341-140E15EF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673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rPr>
              <a:t>TLS 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559387-3C07-4B9C-859A-909F525C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00675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rPr>
              <a:t>Back up Caddy data and configuration volumes to avoid avoidable certificate reissuance.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388764-7121-4B08-BEE0-E5317FD2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81250"/>
            <a:ext cx="23812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141FEB-2C0A-43E7-A5F7-EE14CF60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81250"/>
            <a:ext cx="66675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E3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443188-4777-4174-9E59-627B274E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527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rPr>
              <a:t>Backup policy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8CA989-0858-420B-A82B-B3047C4E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86075"/>
            <a:ext cx="20574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rPr>
              <a:t>Define retention, encryption, access, off-host copies, and immutable recovery points for each store.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AA92DE-4BE0-41DF-94C5-4EC5F0A9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81250"/>
            <a:ext cx="23241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CECEB"/>
          </a:solidFill>
          <a:ln xmlns:a="http://schemas.openxmlformats.org/drawingml/2006/main" w="9525">
            <a:solidFill>
              <a:srgbClr val="D8E3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E6A4B6-62D4-4440-B6DD-3D98D29F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81250"/>
            <a:ext cx="66675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4A43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51D706-9BB6-4E17-8183-83988850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527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rPr>
              <a:t>Restore 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43D2C5-7A78-40CA-8CDC-3D1F8304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86075"/>
            <a:ext cx="2000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486581"/>
                </a:solidFill>
                <a:latin typeface="Noto Sans"/>
                <a:ea typeface="Noto Sans"/>
                <a:cs typeface="Noto Sans"/>
              </a:rPr>
              <a:t>Rebuild the site from Git, restore local packages and TLS state, then verify a sample user journey.</a:t>
            </a:r>
          </a:p>
        </p:txBody>
      </p:sp>
      <p:cxnSp>
        <p:nvCxnSpPr>
          <p:cNvPr id="55" name=""/>
          <p:cNvCxnSpPr>
            <a:stCxn xmlns:a="http://schemas.openxmlformats.org/drawingml/2006/main" id="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067050" y="2152650"/>
            <a:ext cx="1847850" cy="12287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769E8"/>
            </a:solidFill>
            <a:prstDash val="solid"/>
            <a:tail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9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3067050" y="3381375"/>
            <a:ext cx="1847850" cy="4476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769E8"/>
            </a:solidFill>
            <a:prstDash val="solid"/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3067050" y="3381375"/>
            <a:ext cx="1847850" cy="2124075"/>
          </a:xfrm>
          <a:prstGeom xmlns:a="http://schemas.openxmlformats.org/drawingml/2006/main" prst="bentConnector3">
            <a:avLst>
              <a:gd name="adj1" fmla="val 12371"/>
            </a:avLst>
          </a:prstGeom>
          <a:ln xmlns:a="http://schemas.openxmlformats.org/drawingml/2006/main" w="19050">
            <a:solidFill>
              <a:srgbClr val="1769E8"/>
            </a:solidFill>
            <a:prstDash val="solid"/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296150" y="338137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9E8"/>
            </a:solidFill>
            <a:prstDash val="solid"/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FA6505-3616-4C2B-BCED-8838CAC7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0101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071E38"/>
                </a:solidFill>
                <a:latin typeface="Noto Sans"/>
                <a:ea typeface="Noto Sans"/>
                <a:cs typeface="Noto Sans"/>
              </a:rPr>
              <a:t>Recommended boundary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913F80-EAE8-4A44-8F0B-8A6BBEFF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3911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486581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486581"/>
                </a:solidFill>
                <a:latin typeface="Noto Sans"/>
                <a:ea typeface="Noto Sans"/>
                <a:cs typeface="Noto Sans"/>
              </a:rPr>
              <a:t>Keep the web container replaceable. Put persistent binary and certificate data in managed volumes or dedicated services with tested recovery.</a:t>
            </a:r>
          </a:p>
        </p:txBody>
      </p:sp>
    </p:spTree>
    <p:extLst>
      <p:ext uri="{BB962C8B-B14F-4D97-AF65-F5344CB8AC3E}">
        <p14:creationId xmlns:p14="http://schemas.microsoft.com/office/powerpoint/2010/main" val="12543333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E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82348F-BECA-4C4F-9539-95A403A3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28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Decisions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96AD1-A302-465C-AEDA-0930A4DA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6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B1B2C7-7975-4F83-8200-0CD76EDB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F4D28E-875E-476D-B2E3-8E62AABB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E25A80-53AF-45A1-AB4F-85750DAE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56210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Delivery default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C85255-1E6D-457A-8138-4ACB8749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62100"/>
            <a:ext cx="6819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7D7E8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C7D7E8"/>
                </a:solidFill>
                <a:latin typeface="Noto Sans"/>
                <a:ea typeface="Noto Sans"/>
                <a:cs typeface="Noto Sans"/>
              </a:rPr>
              <a:t>Choose the default mode and the exception criteria for local and contact fulfillment.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4BDA17-8B80-4204-9BC3-6553A1AF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21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DCBB13-AD1F-4385-B8EF-C5B9E164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7788B2-FDE8-4D07-8ED7-0454F676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5270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Developer page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C6DA08-21AD-45A5-B376-2166FF69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52700"/>
            <a:ext cx="6819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7D7E8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C7D7E8"/>
                </a:solidFill>
                <a:latin typeface="Noto Sans"/>
                <a:ea typeface="Noto Sans"/>
                <a:cs typeface="Noto Sans"/>
              </a:rPr>
              <a:t>Choose static issue handoff or approve a private authenticated submission service.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4A22A8-2A80-42AE-A24D-9BD82053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E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173DD8-0D40-4330-B3BD-88B4ECDF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4F9DCA-A54C-4B2D-9C5F-B65794B7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54330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Ownership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5F503E-0705-421A-8374-968EBD63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6819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7D7E8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C7D7E8"/>
                </a:solidFill>
                <a:latin typeface="Noto Sans"/>
                <a:ea typeface="Noto Sans"/>
                <a:cs typeface="Noto Sans"/>
              </a:rPr>
              <a:t>Name catalog, platform, repository, support, and security owners.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475901-D559-4E29-BF66-3D85F351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E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228E11-7944-4B07-AAAB-79DB1A22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B64321-8DCA-4EC7-8BB1-123FD452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3390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Recovery targets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31E6CD-C09E-4FA0-9479-D0896A53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33900"/>
            <a:ext cx="6819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7D7E8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C7D7E8"/>
                </a:solidFill>
                <a:latin typeface="Noto Sans"/>
                <a:ea typeface="Noto Sans"/>
                <a:cs typeface="Noto Sans"/>
              </a:rPr>
              <a:t>Set retention, backup frequency, restore target, and evidence expectations.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338832-977F-4F7B-BCC8-D4321771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6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0E675B-4910-4D02-AA52-F1B6C657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A21B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F4A21B"/>
                </a:solidFill>
                <a:latin typeface="Noto Sans"/>
                <a:ea typeface="Noto Sans"/>
                <a:cs typeface="Noto Sans"/>
              </a:rPr>
              <a:t>Immediate follow-up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7C41A1-7DE5-48C8-9BD3-CD6176CC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9817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Update the schema and contributor adapters only after these decisions have owners and acceptance criteria.</a:t>
            </a:r>
          </a:p>
        </p:txBody>
      </p:sp>
    </p:spTree>
    <p:extLst>
      <p:ext uri="{BB962C8B-B14F-4D97-AF65-F5344CB8AC3E}">
        <p14:creationId xmlns:p14="http://schemas.microsoft.com/office/powerpoint/2010/main" val="3481410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2026-09-04T20:10:00.5210000Z</dcterms:created>
  <dcterms:modified xsi:type="dcterms:W3CDTF">2026-09-04T20:10:00.5210000Z</dcterms:modified>
</coreProperties>
</file>